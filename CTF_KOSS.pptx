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72" r:id="rId2"/>
    <p:sldId id="274" r:id="rId3"/>
    <p:sldId id="258" r:id="rId4"/>
    <p:sldId id="275" r:id="rId5"/>
    <p:sldId id="260" r:id="rId6"/>
    <p:sldId id="276" r:id="rId7"/>
    <p:sldId id="277" r:id="rId8"/>
    <p:sldId id="263" r:id="rId9"/>
    <p:sldId id="278" r:id="rId10"/>
    <p:sldId id="279" r:id="rId11"/>
    <p:sldId id="266" r:id="rId12"/>
    <p:sldId id="280" r:id="rId13"/>
    <p:sldId id="268" r:id="rId14"/>
    <p:sldId id="269" r:id="rId15"/>
    <p:sldId id="281" r:id="rId16"/>
    <p:sldId id="283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B3211"/>
    <a:srgbClr val="7A0000"/>
    <a:srgbClr val="008254"/>
    <a:srgbClr val="00D084"/>
    <a:srgbClr val="0054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91" autoAdjust="0"/>
    <p:restoredTop sz="94654" autoAdjust="0"/>
  </p:normalViewPr>
  <p:slideViewPr>
    <p:cSldViewPr snapToGrid="0" snapToObjects="1">
      <p:cViewPr varScale="1">
        <p:scale>
          <a:sx n="134" d="100"/>
          <a:sy n="134" d="100"/>
        </p:scale>
        <p:origin x="125" y="115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-11069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66085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C19E5-9DBE-CDC1-342C-1D98BB92E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8E232E-6C20-24E6-87D8-B517A072E9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D0ACAA-C88F-DF6A-3E26-3C13E0D40C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9AF4AA-B3AE-B321-399D-5069094567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89243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85C19-C3FE-06ED-5FC8-89303F895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2F80BB-9884-1EEE-E635-D623D1E34B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990007-75D1-6D23-8DB0-FEE1386EB1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53DA34-D4AC-B556-868D-007AE2BA30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48003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F9B6E2-C58E-B6CE-0575-1B6D246E1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AE21D4-E1F4-7B11-3168-D5EB0EB7E3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F9278E-851B-1FF9-3D13-71BC840CA2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30D664-7F53-919B-39C6-E3E716E0BA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87907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CDE723-52B4-5A1B-50AC-736BCD6D8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D5A880-3CF8-B618-9A71-C61E701D00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030179-63EE-5884-FE95-9FE791E1E4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8D0D69-38AA-73D2-B575-15723C5A8C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35396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980A9-EDD8-F807-E902-BF4B09AB7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2DF86B-00F2-3197-6372-FA6EE9167B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85C267-3DB7-3F9E-7E18-2B28471139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FC8BCF-9147-965E-631F-2512458274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52309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D4B807-B60D-6DE5-9738-B51E50DCA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23CAA0-5F4F-58BC-EB5C-783D1E7EF4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06C463-D591-BE2D-A968-8C6D175B55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5AA8EB-B24E-4FEA-670B-15E0758547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85141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6BA4D-8A29-96F9-6FC9-AC899EAEB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261B7C-16D5-CC93-88FB-309C83BAFC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5B70FF-9476-0097-8FE2-986669A242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07D6BB-1585-F713-B255-757E7D2C3B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12509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C29DDD-B884-ED02-8556-D33BE6D46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1504C8-08F1-C14D-70B8-018285F13C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11F2C4-F17A-696A-EAC2-DD817F4EE7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B4CA12-097C-1C48-28C7-EFB5F68E38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97110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7035A-7DEC-FA38-4A3A-C2D42A47E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11E65B-D27D-28C1-E996-AAE703E1A2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494CE0-9C16-FEF4-8A38-CD5B6D71B0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2C24E8-A6AA-17DF-F2DC-4CF24E537B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957569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7B59A-1AD6-0DD1-030D-62F63F7F7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398448-E28C-86E6-20C4-F79F9505DD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17235B-4551-BA53-835D-6988A3ECCE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368E9A-85C2-77B7-382C-9EB2864FBD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92918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E10C25-0DA4-7034-1E51-121D8CF6D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61DB221-5DD6-D6B1-9CF7-88425F6E4F55}"/>
              </a:ext>
            </a:extLst>
          </p:cNvPr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FC5973A4-80FB-DC0C-8E44-894D63B8CD39}"/>
              </a:ext>
            </a:extLst>
          </p:cNvPr>
          <p:cNvSpPr/>
          <p:nvPr/>
        </p:nvSpPr>
        <p:spPr>
          <a:xfrm>
            <a:off x="0" y="0"/>
            <a:ext cx="9144" cy="4389120"/>
          </a:xfrm>
          <a:prstGeom prst="rect">
            <a:avLst/>
          </a:prstGeom>
          <a:solidFill>
            <a:srgbClr val="1E3A5F">
              <a:alpha val="50000"/>
            </a:srgbClr>
          </a:solidFill>
          <a:ln w="12700">
            <a:solidFill>
              <a:srgbClr val="1E3A5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75649974-19A4-4CA4-8809-C9730D2EC4F7}"/>
              </a:ext>
            </a:extLst>
          </p:cNvPr>
          <p:cNvSpPr/>
          <p:nvPr/>
        </p:nvSpPr>
        <p:spPr>
          <a:xfrm>
            <a:off x="640080" y="9144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kern="0" spc="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CAPTURE THE FLAG</a:t>
            </a:r>
            <a:endParaRPr lang="en-US" sz="52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FAD4639F-78E0-B253-9696-EF7268D8CB75}"/>
              </a:ext>
            </a:extLst>
          </p:cNvPr>
          <p:cNvSpPr/>
          <p:nvPr/>
        </p:nvSpPr>
        <p:spPr>
          <a:xfrm>
            <a:off x="640080" y="17373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CTF Competitions</a:t>
            </a:r>
            <a:endParaRPr lang="en-US" sz="30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106AE138-0213-096F-B67F-FD030BDEC659}"/>
              </a:ext>
            </a:extLst>
          </p:cNvPr>
          <p:cNvSpPr/>
          <p:nvPr/>
        </p:nvSpPr>
        <p:spPr>
          <a:xfrm>
            <a:off x="640080" y="242316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Introduction to Cybersecurity Competitions,</a:t>
            </a:r>
            <a:endParaRPr lang="en-US" sz="15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Engineering &amp; Binary Exploitation</a:t>
            </a:r>
            <a:endParaRPr lang="en-US" sz="15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FE02526E-2AC0-C207-E57D-6671B6C10F7D}"/>
              </a:ext>
            </a:extLst>
          </p:cNvPr>
          <p:cNvSpPr/>
          <p:nvPr/>
        </p:nvSpPr>
        <p:spPr>
          <a:xfrm>
            <a:off x="640080" y="44348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KOSS IIT Kharagpur</a:t>
            </a:r>
            <a:endParaRPr lang="en-US" sz="1400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1497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209E6-F28B-694F-230C-CF13D8D37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919EBAFE-003D-856D-86E5-A978D8B5382D}"/>
              </a:ext>
            </a:extLst>
          </p:cNvPr>
          <p:cNvSpPr/>
          <p:nvPr/>
        </p:nvSpPr>
        <p:spPr>
          <a:xfrm>
            <a:off x="502920" y="164592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8E0202E-CC1F-7786-F9A6-AF2C8AC913EA}"/>
              </a:ext>
            </a:extLst>
          </p:cNvPr>
          <p:cNvSpPr/>
          <p:nvPr/>
        </p:nvSpPr>
        <p:spPr>
          <a:xfrm>
            <a:off x="502920" y="80467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 today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A692AD0-4532-AF62-5A2C-5387665436FE}"/>
              </a:ext>
            </a:extLst>
          </p:cNvPr>
          <p:cNvSpPr/>
          <p:nvPr/>
        </p:nvSpPr>
        <p:spPr>
          <a:xfrm>
            <a:off x="411480" y="1143000"/>
            <a:ext cx="3931920" cy="71323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E6C1AB8-CCD6-BA32-7561-7AE8F33806EC}"/>
              </a:ext>
            </a:extLst>
          </p:cNvPr>
          <p:cNvSpPr/>
          <p:nvPr/>
        </p:nvSpPr>
        <p:spPr>
          <a:xfrm>
            <a:off x="548640" y="118872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53C9EB1-178C-32F3-CEDC-0E97798041AA}"/>
              </a:ext>
            </a:extLst>
          </p:cNvPr>
          <p:cNvSpPr/>
          <p:nvPr/>
        </p:nvSpPr>
        <p:spPr>
          <a:xfrm>
            <a:off x="1143000" y="118872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&amp; Hacking Basics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3A72641B-C5B8-30FC-4027-7F12D5FEB1E8}"/>
              </a:ext>
            </a:extLst>
          </p:cNvPr>
          <p:cNvSpPr/>
          <p:nvPr/>
        </p:nvSpPr>
        <p:spPr>
          <a:xfrm>
            <a:off x="411480" y="2011680"/>
            <a:ext cx="3931920" cy="71323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25D1D484-3369-F600-8A79-DC042F62BEAD}"/>
              </a:ext>
            </a:extLst>
          </p:cNvPr>
          <p:cNvSpPr/>
          <p:nvPr/>
        </p:nvSpPr>
        <p:spPr>
          <a:xfrm>
            <a:off x="548640" y="205740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ED0BDD73-1A54-27E9-13F8-C5FE468D0AA3}"/>
              </a:ext>
            </a:extLst>
          </p:cNvPr>
          <p:cNvSpPr/>
          <p:nvPr/>
        </p:nvSpPr>
        <p:spPr>
          <a:xfrm>
            <a:off x="1143000" y="20574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of CTF Competitions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C080DCDE-9D93-CD1C-3AB7-CBC3CD3BEF99}"/>
              </a:ext>
            </a:extLst>
          </p:cNvPr>
          <p:cNvSpPr/>
          <p:nvPr/>
        </p:nvSpPr>
        <p:spPr>
          <a:xfrm>
            <a:off x="411480" y="2880360"/>
            <a:ext cx="3931920" cy="71323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52EE9DA9-0E60-0F6A-71F6-78505FB6859D}"/>
              </a:ext>
            </a:extLst>
          </p:cNvPr>
          <p:cNvSpPr/>
          <p:nvPr/>
        </p:nvSpPr>
        <p:spPr>
          <a:xfrm>
            <a:off x="548640" y="292608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4BD01F43-5C21-D490-F453-C047056F80B0}"/>
              </a:ext>
            </a:extLst>
          </p:cNvPr>
          <p:cNvSpPr/>
          <p:nvPr/>
        </p:nvSpPr>
        <p:spPr>
          <a:xfrm>
            <a:off x="1143000" y="292608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CTF Challenges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74CD0B60-BC2E-66F2-5D3F-E0906590ACAA}"/>
              </a:ext>
            </a:extLst>
          </p:cNvPr>
          <p:cNvSpPr/>
          <p:nvPr/>
        </p:nvSpPr>
        <p:spPr>
          <a:xfrm>
            <a:off x="411480" y="3749040"/>
            <a:ext cx="3931920" cy="71323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55F45810-ED06-BFDF-96A5-FDA4A6EA5C8A}"/>
              </a:ext>
            </a:extLst>
          </p:cNvPr>
          <p:cNvSpPr/>
          <p:nvPr/>
        </p:nvSpPr>
        <p:spPr>
          <a:xfrm>
            <a:off x="548640" y="379476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C857B327-4EF1-ED22-9E7A-8CA890ECB61E}"/>
              </a:ext>
            </a:extLst>
          </p:cNvPr>
          <p:cNvSpPr/>
          <p:nvPr/>
        </p:nvSpPr>
        <p:spPr>
          <a:xfrm>
            <a:off x="1143000" y="379476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Engineering – Deep Dive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C2BB1BE3-5452-93F2-AD44-AA57E635DC0D}"/>
              </a:ext>
            </a:extLst>
          </p:cNvPr>
          <p:cNvSpPr/>
          <p:nvPr/>
        </p:nvSpPr>
        <p:spPr>
          <a:xfrm>
            <a:off x="4754880" y="1143000"/>
            <a:ext cx="3931920" cy="71323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72EB7F3E-07F4-323E-2B32-18EE88055156}"/>
              </a:ext>
            </a:extLst>
          </p:cNvPr>
          <p:cNvSpPr/>
          <p:nvPr/>
        </p:nvSpPr>
        <p:spPr>
          <a:xfrm>
            <a:off x="4892040" y="118872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F9296212-FEC8-4EDA-ED85-959E3599A791}"/>
              </a:ext>
            </a:extLst>
          </p:cNvPr>
          <p:cNvSpPr/>
          <p:nvPr/>
        </p:nvSpPr>
        <p:spPr>
          <a:xfrm>
            <a:off x="5486400" y="118872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Pwning &amp; Binary Exploitation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94956288-4721-ECCB-CC79-2984ED7701F5}"/>
              </a:ext>
            </a:extLst>
          </p:cNvPr>
          <p:cNvSpPr/>
          <p:nvPr/>
        </p:nvSpPr>
        <p:spPr>
          <a:xfrm>
            <a:off x="4754880" y="2011680"/>
            <a:ext cx="3931920" cy="71323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3A0CF27B-F3FF-5495-A28A-A2F8EF1359DA}"/>
              </a:ext>
            </a:extLst>
          </p:cNvPr>
          <p:cNvSpPr/>
          <p:nvPr/>
        </p:nvSpPr>
        <p:spPr>
          <a:xfrm>
            <a:off x="4892040" y="205740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A06B41FD-C69D-9903-FA13-16B51B0B748F}"/>
              </a:ext>
            </a:extLst>
          </p:cNvPr>
          <p:cNvSpPr/>
          <p:nvPr/>
        </p:nvSpPr>
        <p:spPr>
          <a:xfrm>
            <a:off x="5486400" y="20574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CTF Writeups – Real Challenges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36391612-18A5-CD7A-025C-E39234FF94FD}"/>
              </a:ext>
            </a:extLst>
          </p:cNvPr>
          <p:cNvSpPr/>
          <p:nvPr/>
        </p:nvSpPr>
        <p:spPr>
          <a:xfrm>
            <a:off x="4754880" y="2880360"/>
            <a:ext cx="3931920" cy="71323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BDC007A2-7A44-0F6D-0016-5D4652BA4641}"/>
              </a:ext>
            </a:extLst>
          </p:cNvPr>
          <p:cNvSpPr/>
          <p:nvPr/>
        </p:nvSpPr>
        <p:spPr>
          <a:xfrm>
            <a:off x="4892040" y="292608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2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C32847CF-6B4B-27E8-4AA1-118FA670CFE0}"/>
              </a:ext>
            </a:extLst>
          </p:cNvPr>
          <p:cNvSpPr/>
          <p:nvPr/>
        </p:nvSpPr>
        <p:spPr>
          <a:xfrm>
            <a:off x="5486400" y="292608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&amp; Next Steps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22072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164592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&amp; Hacking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48640" y="98755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Cybersecurity?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57784" y="1380744"/>
            <a:ext cx="3703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of protecting systems, networks, and programs from digital attacks.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57784" y="2020824"/>
            <a:ext cx="3703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confidentiality, integrity, and availability (CIA triad).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57784" y="2660904"/>
            <a:ext cx="3703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Spans software, hardware, networks, and human factors.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19125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Hacking?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94360" y="3429000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&amp; exploiting weaknesses in systems — ethically (white-hat) or maliciously (black-hat). CTF = white-hat training ground.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914400"/>
            <a:ext cx="40690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846320" y="98755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Cyber Threats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46320" y="14630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Malware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63640" y="1463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Viruses, ransomware, spyware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0" y="207568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Phishing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63640" y="207568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engineering via fake emails/sites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268833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63640" y="268833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manipulation through input fields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46320" y="33009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Buffer Overflow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63640" y="330098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 or hijack programs via memory bugs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46320" y="39136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Zero-Day Exploits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63640" y="391363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Attacks on unpatched vulnerabilities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EB599E-77B6-7F42-700D-988566CAA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A79F13F2-A8E6-790E-DDB9-4A7DEB0DC0AD}"/>
              </a:ext>
            </a:extLst>
          </p:cNvPr>
          <p:cNvSpPr/>
          <p:nvPr/>
        </p:nvSpPr>
        <p:spPr>
          <a:xfrm>
            <a:off x="502920" y="164592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What is CTF?</a:t>
            </a:r>
            <a:endParaRPr lang="en-US" sz="2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D9F36A2-48CB-50B3-6205-5A2788F5F68E}"/>
              </a:ext>
            </a:extLst>
          </p:cNvPr>
          <p:cNvSpPr/>
          <p:nvPr/>
        </p:nvSpPr>
        <p:spPr>
          <a:xfrm>
            <a:off x="502920" y="80467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the Flag – Jeopardy Format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A4022C7-8F29-CDB4-3527-8EAB4FF964CF}"/>
              </a:ext>
            </a:extLst>
          </p:cNvPr>
          <p:cNvSpPr/>
          <p:nvPr/>
        </p:nvSpPr>
        <p:spPr>
          <a:xfrm>
            <a:off x="502920" y="10515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CTF competitions are cybersecurity contests where participants solve challenges to find hidden strings called flags.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31E7A0D9-83C6-1096-8FA8-C8FF465FB554}"/>
              </a:ext>
            </a:extLst>
          </p:cNvPr>
          <p:cNvSpPr/>
          <p:nvPr/>
        </p:nvSpPr>
        <p:spPr>
          <a:xfrm>
            <a:off x="411480" y="1691640"/>
            <a:ext cx="2697480" cy="237744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9BDCEA6-243A-C73E-2395-A05FA0082309}"/>
              </a:ext>
            </a:extLst>
          </p:cNvPr>
          <p:cNvSpPr/>
          <p:nvPr/>
        </p:nvSpPr>
        <p:spPr>
          <a:xfrm>
            <a:off x="548640" y="178308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The Flag</a:t>
            </a:r>
            <a:endParaRPr lang="en-US" sz="15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C4F3B8F3-B9B4-60C4-B6B4-0A4CC3B49C8E}"/>
              </a:ext>
            </a:extLst>
          </p:cNvPr>
          <p:cNvSpPr/>
          <p:nvPr/>
        </p:nvSpPr>
        <p:spPr>
          <a:xfrm>
            <a:off x="548640" y="2331720"/>
            <a:ext cx="2423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special string like flag{s0me_s3cr3t} hidden inside a challenge. Submit it for points.</a:t>
            </a:r>
            <a:endParaRPr lang="en-US" sz="125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2C6DC3BE-4ECF-D168-DB94-92E945C03E07}"/>
              </a:ext>
            </a:extLst>
          </p:cNvPr>
          <p:cNvSpPr/>
          <p:nvPr/>
        </p:nvSpPr>
        <p:spPr>
          <a:xfrm>
            <a:off x="3291840" y="1691640"/>
            <a:ext cx="2697480" cy="237744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CF606537-4CD1-63B4-7B15-559761BC84ED}"/>
              </a:ext>
            </a:extLst>
          </p:cNvPr>
          <p:cNvSpPr/>
          <p:nvPr/>
        </p:nvSpPr>
        <p:spPr>
          <a:xfrm>
            <a:off x="3429000" y="178308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Jeopardy Style</a:t>
            </a:r>
            <a:endParaRPr lang="en-US" sz="15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F86A9FD8-77A8-DD65-AC5D-CAF7198F29B2}"/>
              </a:ext>
            </a:extLst>
          </p:cNvPr>
          <p:cNvSpPr/>
          <p:nvPr/>
        </p:nvSpPr>
        <p:spPr>
          <a:xfrm>
            <a:off x="3429000" y="2331720"/>
            <a:ext cx="2423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challenges across categories. Teams pick what to solve — partial credit on attempts.</a:t>
            </a:r>
            <a:endParaRPr lang="en-US" sz="125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068131C7-83C5-4E27-E8FC-5E8B142E6B74}"/>
              </a:ext>
            </a:extLst>
          </p:cNvPr>
          <p:cNvSpPr/>
          <p:nvPr/>
        </p:nvSpPr>
        <p:spPr>
          <a:xfrm>
            <a:off x="6172200" y="1691640"/>
            <a:ext cx="2697480" cy="237744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7C605B56-E370-CEED-53D1-90A1CE15FF72}"/>
              </a:ext>
            </a:extLst>
          </p:cNvPr>
          <p:cNvSpPr/>
          <p:nvPr/>
        </p:nvSpPr>
        <p:spPr>
          <a:xfrm>
            <a:off x="6309360" y="178308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Scoring</a:t>
            </a:r>
            <a:endParaRPr lang="en-US" sz="15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F5DE0476-3F08-FB28-2761-1AB12FFD63D0}"/>
              </a:ext>
            </a:extLst>
          </p:cNvPr>
          <p:cNvSpPr/>
          <p:nvPr/>
        </p:nvSpPr>
        <p:spPr>
          <a:xfrm>
            <a:off x="6309360" y="2331720"/>
            <a:ext cx="2423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for each flag. Dynamic scoring — harder challenges worth more. Tiebreak by earliest submission.</a:t>
            </a:r>
            <a:endParaRPr lang="en-US" sz="125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60C16682-793B-87F3-88C8-10AB094CFC50}"/>
              </a:ext>
            </a:extLst>
          </p:cNvPr>
          <p:cNvSpPr/>
          <p:nvPr/>
        </p:nvSpPr>
        <p:spPr>
          <a:xfrm>
            <a:off x="502920" y="4297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 platforms: picoCTF · CTFtime · HackTheBox · TryHackMe</a:t>
            </a:r>
            <a:endParaRPr lang="en-US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41055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164592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CTF Challenges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94360" y="10515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146304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injection, XSS, CSRF, server misconfigs, auth bypass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800600" y="960120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983480" y="10515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Crypto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83480" y="146304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ciphers, RSA, AES, hash cracking, encoding tricks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11480" y="2286000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94360" y="23774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Forensics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94360" y="278892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carving, steganography, memory dumps, network pcap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800600" y="2286000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983480" y="23774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Rev</a:t>
            </a:r>
            <a:r>
              <a:rPr lang="en-US" sz="1600" b="1" dirty="0">
                <a:solidFill>
                  <a:srgbClr val="00D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Eng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983480" y="278892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Disassembling binaries, decompiling, understanding logic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11480" y="3611880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94360" y="3703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Pwn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94360" y="411480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overflows, format strings, heap exploits, ROP chains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800600" y="3611880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983480" y="3703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Misc / OSINT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983480" y="411480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Trivia, recon, steganography, open-source intelligence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8ABB3-4418-1F9D-6E1E-F3CF607EC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913494CD-7FD3-9273-EA76-A028B3A2CFD0}"/>
              </a:ext>
            </a:extLst>
          </p:cNvPr>
          <p:cNvSpPr/>
          <p:nvPr/>
        </p:nvSpPr>
        <p:spPr>
          <a:xfrm>
            <a:off x="502920" y="164592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Common Tools &amp; Techniques</a:t>
            </a:r>
            <a:endParaRPr lang="en-US" sz="2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04FD40B-A462-9741-8032-BB169A15D070}"/>
              </a:ext>
            </a:extLst>
          </p:cNvPr>
          <p:cNvSpPr/>
          <p:nvPr/>
        </p:nvSpPr>
        <p:spPr>
          <a:xfrm>
            <a:off x="411480" y="1143000"/>
            <a:ext cx="2788920" cy="13716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A6095A2-E135-E600-A325-7C93917A040D}"/>
              </a:ext>
            </a:extLst>
          </p:cNvPr>
          <p:cNvSpPr/>
          <p:nvPr/>
        </p:nvSpPr>
        <p:spPr>
          <a:xfrm>
            <a:off x="548640" y="128016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Scripting</a:t>
            </a:r>
            <a:endParaRPr lang="en-US" sz="15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18195D6-4D1C-BA42-C053-87EACA0C09F8}"/>
              </a:ext>
            </a:extLst>
          </p:cNvPr>
          <p:cNvSpPr/>
          <p:nvPr/>
        </p:nvSpPr>
        <p:spPr>
          <a:xfrm>
            <a:off x="548640" y="169164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pwntools · pycryptodome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A7DA53DC-1FF6-53B0-45E6-533EAAD033A1}"/>
              </a:ext>
            </a:extLst>
          </p:cNvPr>
          <p:cNvSpPr/>
          <p:nvPr/>
        </p:nvSpPr>
        <p:spPr>
          <a:xfrm>
            <a:off x="3337560" y="1143000"/>
            <a:ext cx="2788920" cy="13716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FC15904-E5E0-20FC-1180-30EFF07E1F57}"/>
              </a:ext>
            </a:extLst>
          </p:cNvPr>
          <p:cNvSpPr/>
          <p:nvPr/>
        </p:nvSpPr>
        <p:spPr>
          <a:xfrm>
            <a:off x="3474720" y="128016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Disassembly</a:t>
            </a:r>
            <a:endParaRPr lang="en-US" sz="15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683D12DB-0923-A245-0FFD-07D663699841}"/>
              </a:ext>
            </a:extLst>
          </p:cNvPr>
          <p:cNvSpPr/>
          <p:nvPr/>
        </p:nvSpPr>
        <p:spPr>
          <a:xfrm>
            <a:off x="3474720" y="169164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Ghidra · IDA Pro · Binary Ninja · Radare2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0D49F20F-78C1-7A71-B5D6-32511A95A70E}"/>
              </a:ext>
            </a:extLst>
          </p:cNvPr>
          <p:cNvSpPr/>
          <p:nvPr/>
        </p:nvSpPr>
        <p:spPr>
          <a:xfrm>
            <a:off x="6263640" y="1143000"/>
            <a:ext cx="2788920" cy="13716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D4AB4C50-99E2-03EC-DF54-EF3E1470F83C}"/>
              </a:ext>
            </a:extLst>
          </p:cNvPr>
          <p:cNvSpPr/>
          <p:nvPr/>
        </p:nvSpPr>
        <p:spPr>
          <a:xfrm>
            <a:off x="6400800" y="128016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Debugging</a:t>
            </a:r>
            <a:endParaRPr lang="en-US" sz="15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83899905-611A-B4BE-EBB8-CCBEE288DD2A}"/>
              </a:ext>
            </a:extLst>
          </p:cNvPr>
          <p:cNvSpPr/>
          <p:nvPr/>
        </p:nvSpPr>
        <p:spPr>
          <a:xfrm>
            <a:off x="6400800" y="169164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GDB + pwndbg/peda · strace · ltrace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D23382B2-7C9E-0249-3AEA-CAA936264BC9}"/>
              </a:ext>
            </a:extLst>
          </p:cNvPr>
          <p:cNvSpPr/>
          <p:nvPr/>
        </p:nvSpPr>
        <p:spPr>
          <a:xfrm>
            <a:off x="411480" y="2651760"/>
            <a:ext cx="2788920" cy="13716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6CDD61A7-EDE1-485A-63DD-9469111B3A11}"/>
              </a:ext>
            </a:extLst>
          </p:cNvPr>
          <p:cNvSpPr/>
          <p:nvPr/>
        </p:nvSpPr>
        <p:spPr>
          <a:xfrm>
            <a:off x="548640" y="278892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5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2086DBB2-755F-39D4-F577-01E2C565EFD9}"/>
              </a:ext>
            </a:extLst>
          </p:cNvPr>
          <p:cNvSpPr/>
          <p:nvPr/>
        </p:nvSpPr>
        <p:spPr>
          <a:xfrm>
            <a:off x="548640" y="320040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Wireshark · Burp Suite · netcat · nmap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00A80C97-C392-483F-48FB-2EC547CFE752}"/>
              </a:ext>
            </a:extLst>
          </p:cNvPr>
          <p:cNvSpPr/>
          <p:nvPr/>
        </p:nvSpPr>
        <p:spPr>
          <a:xfrm>
            <a:off x="3337560" y="2651760"/>
            <a:ext cx="2788920" cy="13716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18ADBF96-FFB5-2A6E-479E-1B44DEC4B43E}"/>
              </a:ext>
            </a:extLst>
          </p:cNvPr>
          <p:cNvSpPr/>
          <p:nvPr/>
        </p:nvSpPr>
        <p:spPr>
          <a:xfrm>
            <a:off x="3474720" y="278892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Forensics</a:t>
            </a:r>
            <a:endParaRPr lang="en-US" sz="15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FEEEEF32-9623-8AB1-1085-1D3441AC3FA4}"/>
              </a:ext>
            </a:extLst>
          </p:cNvPr>
          <p:cNvSpPr/>
          <p:nvPr/>
        </p:nvSpPr>
        <p:spPr>
          <a:xfrm>
            <a:off x="3474720" y="320040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binwalk · exiftool · Volatility · steghide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C5AA77A0-FC45-D8BA-9701-2C4154C2171F}"/>
              </a:ext>
            </a:extLst>
          </p:cNvPr>
          <p:cNvSpPr/>
          <p:nvPr/>
        </p:nvSpPr>
        <p:spPr>
          <a:xfrm>
            <a:off x="6263640" y="2651760"/>
            <a:ext cx="2788920" cy="13716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D7C03F83-22BC-FA55-738A-AC729BBE8F05}"/>
              </a:ext>
            </a:extLst>
          </p:cNvPr>
          <p:cNvSpPr/>
          <p:nvPr/>
        </p:nvSpPr>
        <p:spPr>
          <a:xfrm>
            <a:off x="6400800" y="278892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Crypto</a:t>
            </a:r>
            <a:endParaRPr lang="en-US" sz="15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C08F5E91-FC9F-858D-07BB-7C9DAE94B86C}"/>
              </a:ext>
            </a:extLst>
          </p:cNvPr>
          <p:cNvSpPr/>
          <p:nvPr/>
        </p:nvSpPr>
        <p:spPr>
          <a:xfrm>
            <a:off x="6400800" y="320040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CyberChef · hashcat · John the Ripper · openssl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21635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7D2C7-7280-5277-A426-F8B6A932A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E15383AF-2CA2-62E4-E2C1-0BA35CD76922}"/>
              </a:ext>
            </a:extLst>
          </p:cNvPr>
          <p:cNvSpPr/>
          <p:nvPr/>
        </p:nvSpPr>
        <p:spPr>
          <a:xfrm>
            <a:off x="502920" y="164592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Reverse Engineering</a:t>
            </a:r>
            <a:endParaRPr lang="en-US" sz="2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588EA7F-97CB-4B4A-8F7E-0D41192A508C}"/>
              </a:ext>
            </a:extLst>
          </p:cNvPr>
          <p:cNvSpPr/>
          <p:nvPr/>
        </p:nvSpPr>
        <p:spPr>
          <a:xfrm>
            <a:off x="502920" y="80467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programs without source code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9EF6FC5-7D68-0C1B-1ABF-BFBAE4214D11}"/>
              </a:ext>
            </a:extLst>
          </p:cNvPr>
          <p:cNvSpPr/>
          <p:nvPr/>
        </p:nvSpPr>
        <p:spPr>
          <a:xfrm>
            <a:off x="411480" y="1051560"/>
            <a:ext cx="4069080" cy="36576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F822F51-30D4-B3B3-3F46-D1B9280CCB61}"/>
              </a:ext>
            </a:extLst>
          </p:cNvPr>
          <p:cNvSpPr/>
          <p:nvPr/>
        </p:nvSpPr>
        <p:spPr>
          <a:xfrm>
            <a:off x="594360" y="1143000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What is RE?</a:t>
            </a:r>
            <a:endParaRPr lang="en-US" sz="17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56C84BA-D63D-DA0A-F883-6AA40A64B2B3}"/>
              </a:ext>
            </a:extLst>
          </p:cNvPr>
          <p:cNvSpPr/>
          <p:nvPr/>
        </p:nvSpPr>
        <p:spPr>
          <a:xfrm>
            <a:off x="594360" y="1645920"/>
            <a:ext cx="3703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Analyzing compiled binaries to understand their behavior.</a:t>
            </a:r>
            <a:endParaRPr lang="en-US" sz="12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EF326FF-8F70-F72C-729D-675040FFEFE8}"/>
              </a:ext>
            </a:extLst>
          </p:cNvPr>
          <p:cNvSpPr/>
          <p:nvPr/>
        </p:nvSpPr>
        <p:spPr>
          <a:xfrm>
            <a:off x="594360" y="2240280"/>
            <a:ext cx="3703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source code provided — read assembly &amp; decompiled C.</a:t>
            </a:r>
            <a:endParaRPr lang="en-US" sz="12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4C3F824-C845-80B3-1E7E-7473F2B4D67A}"/>
              </a:ext>
            </a:extLst>
          </p:cNvPr>
          <p:cNvSpPr/>
          <p:nvPr/>
        </p:nvSpPr>
        <p:spPr>
          <a:xfrm>
            <a:off x="594360" y="2834640"/>
            <a:ext cx="3703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find the logic to produce the flag.</a:t>
            </a:r>
            <a:endParaRPr lang="en-US" sz="12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C7000634-17FB-882E-C79A-6A1D60401464}"/>
              </a:ext>
            </a:extLst>
          </p:cNvPr>
          <p:cNvSpPr/>
          <p:nvPr/>
        </p:nvSpPr>
        <p:spPr>
          <a:xfrm>
            <a:off x="594360" y="3429000"/>
            <a:ext cx="3703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formats: ELF (Linux), PE (Windows), Mach-O (macOS).</a:t>
            </a:r>
            <a:endParaRPr lang="en-US" sz="12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70B9171-7F17-332C-7FDF-EFAADA3FB50E}"/>
              </a:ext>
            </a:extLst>
          </p:cNvPr>
          <p:cNvSpPr/>
          <p:nvPr/>
        </p:nvSpPr>
        <p:spPr>
          <a:xfrm>
            <a:off x="594360" y="4023360"/>
            <a:ext cx="3703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&amp; Rust binaries add obfuscation layers — bytecode / stripped symbols.</a:t>
            </a:r>
            <a:endParaRPr lang="en-US" sz="12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603BE04A-FEBB-F4A8-E49C-B6F8118C6CED}"/>
              </a:ext>
            </a:extLst>
          </p:cNvPr>
          <p:cNvSpPr/>
          <p:nvPr/>
        </p:nvSpPr>
        <p:spPr>
          <a:xfrm>
            <a:off x="4754880" y="1051560"/>
            <a:ext cx="3977640" cy="36576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DEAC9317-BFBF-4A78-8C79-CBDB7F1D577A}"/>
              </a:ext>
            </a:extLst>
          </p:cNvPr>
          <p:cNvSpPr/>
          <p:nvPr/>
        </p:nvSpPr>
        <p:spPr>
          <a:xfrm>
            <a:off x="4892040" y="1143000"/>
            <a:ext cx="3703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# Example: crackme logic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def check(flag):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key = [0x48,0x69,0x64,0x64,0x65,0x6e]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i, c in enumerate(flag):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ord(c) != key[i]: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False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True</a:t>
            </a:r>
            <a:endParaRPr lang="en-US" sz="11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A995A7B8-B255-D282-35A2-9194A1EC2743}"/>
              </a:ext>
            </a:extLst>
          </p:cNvPr>
          <p:cNvSpPr/>
          <p:nvPr/>
        </p:nvSpPr>
        <p:spPr>
          <a:xfrm>
            <a:off x="4892040" y="315468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recover flag = 'Hidden'</a:t>
            </a:r>
            <a:endParaRPr lang="en-US" sz="11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5525A6E6-3E4F-58BE-C266-8347328640BC}"/>
              </a:ext>
            </a:extLst>
          </p:cNvPr>
          <p:cNvSpPr/>
          <p:nvPr/>
        </p:nvSpPr>
        <p:spPr>
          <a:xfrm>
            <a:off x="4892040" y="3566160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XOR, rot, custom cipher, anti-debug tricks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Identify &amp; bypass them step-by-step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18777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164592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 Tools &amp; Workflow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12648" y="103327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Ghidra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12648" y="136245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Decompiler / Disassembler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12648" y="161848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NSA tool. Converts assembly → pseudo-C. Great for large binaries.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00600" y="96012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001768" y="103327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GDB + pwndbg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01768" y="136245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Debugger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01768" y="161848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through execution, inspect registers &amp; memory at runtime.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" y="233172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12648" y="240487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ltrace / strace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12648" y="273405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Syscall Tracer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2648" y="299008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library calls &amp; system calls without reading assembly.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00600" y="233172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001768" y="240487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strings / file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001768" y="273405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Recon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01768" y="299008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printable strings. Identify binary type before deep analysis.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11480" y="370332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12648" y="377647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objdump / readelf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12648" y="410565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ELF Inspector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12648" y="436168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headers, symbols, GOT/PLT — essential for Linux RE.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800600" y="370332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5001768" y="377647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CyberChef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001768" y="410565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Encoder/Decoder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01768" y="436168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Browser-based kitchen for XOR, base64, ROT, AES and more.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2E47C-4CF8-2F0D-1BAF-0E098407E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6807DAB3-123A-3F7D-F40E-639588CCB507}"/>
              </a:ext>
            </a:extLst>
          </p:cNvPr>
          <p:cNvSpPr/>
          <p:nvPr/>
        </p:nvSpPr>
        <p:spPr>
          <a:xfrm>
            <a:off x="502920" y="164592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Python &amp; Rust RE Challenges</a:t>
            </a:r>
            <a:endParaRPr lang="en-US" sz="2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512694D-C5E3-E4D2-369E-75056849EE21}"/>
              </a:ext>
            </a:extLst>
          </p:cNvPr>
          <p:cNvSpPr/>
          <p:nvPr/>
        </p:nvSpPr>
        <p:spPr>
          <a:xfrm>
            <a:off x="502920" y="80467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Language-specific reverse engineering</a:t>
            </a:r>
            <a:endParaRPr lang="en-US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8E2A62E-E1DF-F89B-7C18-DE952F0F696C}"/>
              </a:ext>
            </a:extLst>
          </p:cNvPr>
          <p:cNvSpPr/>
          <p:nvPr/>
        </p:nvSpPr>
        <p:spPr>
          <a:xfrm>
            <a:off x="411480" y="1078992"/>
            <a:ext cx="4023360" cy="370332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B4D96CE-4FF2-8B79-6F51-12BAA638E352}"/>
              </a:ext>
            </a:extLst>
          </p:cNvPr>
          <p:cNvSpPr/>
          <p:nvPr/>
        </p:nvSpPr>
        <p:spPr>
          <a:xfrm>
            <a:off x="594360" y="117043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Python RE</a:t>
            </a:r>
            <a:endParaRPr lang="en-US" sz="17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321DF17-47C8-2130-B8FA-9B9D09A5C903}"/>
              </a:ext>
            </a:extLst>
          </p:cNvPr>
          <p:cNvSpPr/>
          <p:nvPr/>
        </p:nvSpPr>
        <p:spPr>
          <a:xfrm>
            <a:off x="594360" y="1691640"/>
            <a:ext cx="3657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as .pyc (bytecode) files.</a:t>
            </a:r>
            <a:endParaRPr lang="en-US" sz="12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B3A27DF-0933-F75F-5B15-5B5BAFBD9F6C}"/>
              </a:ext>
            </a:extLst>
          </p:cNvPr>
          <p:cNvSpPr/>
          <p:nvPr/>
        </p:nvSpPr>
        <p:spPr>
          <a:xfrm>
            <a:off x="594360" y="2267712"/>
            <a:ext cx="3657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Decompile with uncompyle6 or decompile3.</a:t>
            </a:r>
            <a:endParaRPr lang="en-US" sz="12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0998920E-29B4-839C-8ADB-E911B556353E}"/>
              </a:ext>
            </a:extLst>
          </p:cNvPr>
          <p:cNvSpPr/>
          <p:nvPr/>
        </p:nvSpPr>
        <p:spPr>
          <a:xfrm>
            <a:off x="594360" y="2843784"/>
            <a:ext cx="3657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 obfuscated imports, exec() calls, marshal.loads().</a:t>
            </a:r>
            <a:endParaRPr lang="en-US" sz="12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457795A4-2D9C-18B7-B2E2-9BA740D820BB}"/>
              </a:ext>
            </a:extLst>
          </p:cNvPr>
          <p:cNvSpPr/>
          <p:nvPr/>
        </p:nvSpPr>
        <p:spPr>
          <a:xfrm>
            <a:off x="594360" y="3419856"/>
            <a:ext cx="3657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dis module to inspect bytecode inline.</a:t>
            </a:r>
            <a:endParaRPr lang="en-US" sz="12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66109A5C-9ACC-FBBC-919A-8BBB76164194}"/>
              </a:ext>
            </a:extLst>
          </p:cNvPr>
          <p:cNvSpPr/>
          <p:nvPr/>
        </p:nvSpPr>
        <p:spPr>
          <a:xfrm>
            <a:off x="594360" y="3995928"/>
            <a:ext cx="3657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Packed with PyInstaller? Use pyinstxtractor first.</a:t>
            </a:r>
            <a:endParaRPr lang="en-US" sz="12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1A5BDC42-9CD6-4D9E-BB60-C95394ED0DC5}"/>
              </a:ext>
            </a:extLst>
          </p:cNvPr>
          <p:cNvSpPr/>
          <p:nvPr/>
        </p:nvSpPr>
        <p:spPr>
          <a:xfrm>
            <a:off x="4709160" y="1078992"/>
            <a:ext cx="4023360" cy="370332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9224BCF2-4806-724B-FBD1-CF922AE7167B}"/>
              </a:ext>
            </a:extLst>
          </p:cNvPr>
          <p:cNvSpPr/>
          <p:nvPr/>
        </p:nvSpPr>
        <p:spPr>
          <a:xfrm>
            <a:off x="4892040" y="117043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Rust RE</a:t>
            </a:r>
            <a:endParaRPr lang="en-US" sz="17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A698A3D9-C4F0-52FF-5BEC-887BB9B47FEE}"/>
              </a:ext>
            </a:extLst>
          </p:cNvPr>
          <p:cNvSpPr/>
          <p:nvPr/>
        </p:nvSpPr>
        <p:spPr>
          <a:xfrm>
            <a:off x="4892040" y="1691640"/>
            <a:ext cx="3657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Compiled to native machine code — no bytecode.</a:t>
            </a:r>
            <a:endParaRPr lang="en-US" sz="12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EA39DC08-8F4D-BBC5-7791-D375F54AC967}"/>
              </a:ext>
            </a:extLst>
          </p:cNvPr>
          <p:cNvSpPr/>
          <p:nvPr/>
        </p:nvSpPr>
        <p:spPr>
          <a:xfrm>
            <a:off x="4892040" y="2267712"/>
            <a:ext cx="3657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Mangles symbol names → hard to read in Ghidra.</a:t>
            </a:r>
            <a:endParaRPr lang="en-US" sz="12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6AEC5C77-F933-48F2-9395-6FD7F56D5EDF}"/>
              </a:ext>
            </a:extLst>
          </p:cNvPr>
          <p:cNvSpPr/>
          <p:nvPr/>
        </p:nvSpPr>
        <p:spPr>
          <a:xfrm>
            <a:off x="4892040" y="2843784"/>
            <a:ext cx="3657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cargo-crev or rg for source hints if available.</a:t>
            </a:r>
            <a:endParaRPr lang="en-US" sz="12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5BD1C1CF-9B37-E7A5-9C23-03C4180168C2}"/>
              </a:ext>
            </a:extLst>
          </p:cNvPr>
          <p:cNvSpPr/>
          <p:nvPr/>
        </p:nvSpPr>
        <p:spPr>
          <a:xfrm>
            <a:off x="4892040" y="3419856"/>
            <a:ext cx="3657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Rust's ownership memory model = fewer overflows.</a:t>
            </a:r>
            <a:endParaRPr lang="en-US" sz="12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9545946D-BFB8-9C01-8E74-100EFF8BECFB}"/>
              </a:ext>
            </a:extLst>
          </p:cNvPr>
          <p:cNvSpPr/>
          <p:nvPr/>
        </p:nvSpPr>
        <p:spPr>
          <a:xfrm>
            <a:off x="4892040" y="3995928"/>
            <a:ext cx="3657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handling differs — &amp;str vs String in asm.</a:t>
            </a:r>
            <a:endParaRPr lang="en-US" sz="12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52338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FA1954-8B78-29B0-5815-B61804234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97C8950E-3605-1AF7-DBAD-BFB08D017C96}"/>
              </a:ext>
            </a:extLst>
          </p:cNvPr>
          <p:cNvSpPr/>
          <p:nvPr/>
        </p:nvSpPr>
        <p:spPr>
          <a:xfrm>
            <a:off x="502920" y="164592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Pwning &amp; Binary Exploitation</a:t>
            </a:r>
            <a:endParaRPr lang="en-US" sz="2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4158240-E54F-F4EA-B1F7-5D0C69A94EF6}"/>
              </a:ext>
            </a:extLst>
          </p:cNvPr>
          <p:cNvSpPr/>
          <p:nvPr/>
        </p:nvSpPr>
        <p:spPr>
          <a:xfrm>
            <a:off x="502920" y="80467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Taking control of a running program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4BB0211-77FD-DBD3-D613-7A3E7716FA71}"/>
              </a:ext>
            </a:extLst>
          </p:cNvPr>
          <p:cNvSpPr/>
          <p:nvPr/>
        </p:nvSpPr>
        <p:spPr>
          <a:xfrm>
            <a:off x="502920" y="10241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"Pwning" = exploiting a vulnerability to gain control of a binary or remote service.</a:t>
            </a:r>
            <a:endParaRPr lang="en-US" sz="13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en-US" sz="135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is usually to spawn a shell or read a flag file from the server.</a:t>
            </a:r>
            <a:endParaRPr lang="en-US" sz="13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FA696E50-E654-45E7-8283-05E65924F779}"/>
              </a:ext>
            </a:extLst>
          </p:cNvPr>
          <p:cNvSpPr/>
          <p:nvPr/>
        </p:nvSpPr>
        <p:spPr>
          <a:xfrm>
            <a:off x="411480" y="1874520"/>
            <a:ext cx="8321040" cy="658368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B8C73FB-B0DE-E557-49A8-B430B30B2825}"/>
              </a:ext>
            </a:extLst>
          </p:cNvPr>
          <p:cNvSpPr/>
          <p:nvPr/>
        </p:nvSpPr>
        <p:spPr>
          <a:xfrm>
            <a:off x="594360" y="194767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Buffer Overflow</a:t>
            </a:r>
            <a:endParaRPr lang="en-US" sz="135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767B7FF-C7A1-1CBF-A87D-C3246049A520}"/>
              </a:ext>
            </a:extLst>
          </p:cNvPr>
          <p:cNvSpPr/>
          <p:nvPr/>
        </p:nvSpPr>
        <p:spPr>
          <a:xfrm>
            <a:off x="2788920" y="1947672"/>
            <a:ext cx="5852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past the end of a stack buffer → overwrite return address → hijack execution.</a:t>
            </a:r>
            <a:endParaRPr lang="en-US" sz="12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4CDA0EB6-9B5B-B1EE-50F5-8687E4CD39F4}"/>
              </a:ext>
            </a:extLst>
          </p:cNvPr>
          <p:cNvSpPr/>
          <p:nvPr/>
        </p:nvSpPr>
        <p:spPr>
          <a:xfrm>
            <a:off x="411480" y="2624328"/>
            <a:ext cx="8321040" cy="658368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BCA68F0B-106A-5DA8-9246-5EE4B337B96A}"/>
              </a:ext>
            </a:extLst>
          </p:cNvPr>
          <p:cNvSpPr/>
          <p:nvPr/>
        </p:nvSpPr>
        <p:spPr>
          <a:xfrm>
            <a:off x="594360" y="26974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Format String</a:t>
            </a:r>
            <a:endParaRPr lang="en-US" sz="135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F481A166-13FD-C9DC-6330-C5049D2687D2}"/>
              </a:ext>
            </a:extLst>
          </p:cNvPr>
          <p:cNvSpPr/>
          <p:nvPr/>
        </p:nvSpPr>
        <p:spPr>
          <a:xfrm>
            <a:off x="2788920" y="2697480"/>
            <a:ext cx="5852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controls printf format → arbitrary read/write anywhere in memory.</a:t>
            </a:r>
            <a:endParaRPr lang="en-US" sz="12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A0500223-8A8E-0763-CF9D-A5435042E3E7}"/>
              </a:ext>
            </a:extLst>
          </p:cNvPr>
          <p:cNvSpPr/>
          <p:nvPr/>
        </p:nvSpPr>
        <p:spPr>
          <a:xfrm>
            <a:off x="411480" y="3374136"/>
            <a:ext cx="8321040" cy="658368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5D739E31-D249-8426-32CB-DE15D48B5BF6}"/>
              </a:ext>
            </a:extLst>
          </p:cNvPr>
          <p:cNvSpPr/>
          <p:nvPr/>
        </p:nvSpPr>
        <p:spPr>
          <a:xfrm>
            <a:off x="594360" y="344728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Heap Exploitation</a:t>
            </a:r>
            <a:endParaRPr lang="en-US" sz="135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BE7443CB-BF50-41FD-11B9-20173B257C42}"/>
              </a:ext>
            </a:extLst>
          </p:cNvPr>
          <p:cNvSpPr/>
          <p:nvPr/>
        </p:nvSpPr>
        <p:spPr>
          <a:xfrm>
            <a:off x="2788920" y="3447288"/>
            <a:ext cx="5852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Use-after-free, double-free, heap grooming to corrupt allocator metadata.</a:t>
            </a:r>
            <a:endParaRPr lang="en-US" sz="12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07C31BA5-2DD1-6128-3EDE-FBD2D33D07DB}"/>
              </a:ext>
            </a:extLst>
          </p:cNvPr>
          <p:cNvSpPr/>
          <p:nvPr/>
        </p:nvSpPr>
        <p:spPr>
          <a:xfrm>
            <a:off x="411480" y="4123944"/>
            <a:ext cx="8321040" cy="658368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EFB41C3B-6D70-C25F-D975-90FB7A3A03D7}"/>
              </a:ext>
            </a:extLst>
          </p:cNvPr>
          <p:cNvSpPr/>
          <p:nvPr/>
        </p:nvSpPr>
        <p:spPr>
          <a:xfrm>
            <a:off x="594360" y="419709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Return-Oriented Programming (ROP)</a:t>
            </a:r>
            <a:endParaRPr lang="en-US" sz="135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ABFCBCD4-4664-F296-F4C0-CEE537596F6B}"/>
              </a:ext>
            </a:extLst>
          </p:cNvPr>
          <p:cNvSpPr/>
          <p:nvPr/>
        </p:nvSpPr>
        <p:spPr>
          <a:xfrm>
            <a:off x="2788920" y="4197096"/>
            <a:ext cx="5852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existing code gadgets to bypass NX/W^X protections without injecting shellcode.</a:t>
            </a:r>
            <a:endParaRPr lang="en-US" sz="12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11163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164592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Shellcodes &amp; Binary Protections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11480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Shellcode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machine-code payload injected into a vulnerable program to execute arbitrary commands — usually spawn /bin/sh.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219456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; x86-64 execve('/bin/sh')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xor rdi,rdi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push rdi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mov rdi,rsp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push 59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pop rax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syscall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365760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 with: pwntools shellcraft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with: strace, gdb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914400"/>
            <a:ext cx="406908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2" name="Text 10"/>
          <p:cNvSpPr/>
          <p:nvPr/>
        </p:nvSpPr>
        <p:spPr>
          <a:xfrm>
            <a:off x="4846320" y="10058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Modern Protections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846320" y="15087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ASLR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080760" y="150876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Randomizes base addresses each run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21031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NX/W^X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080760" y="210312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can't be written AND executed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0" y="269748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Stack Canary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80760" y="269748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stack smashing before return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32918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PIE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080760" y="329184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Position-independent executable — all addresses random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46320" y="38862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RELRO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080760" y="388620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GOT read-only to prevent overwrites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46320" y="45262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 with: checksec --file=binary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D9635-89A0-B596-05DA-6DB414CE1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BD3F34FE-210E-1F5D-4176-B56A763467CE}"/>
              </a:ext>
            </a:extLst>
          </p:cNvPr>
          <p:cNvSpPr/>
          <p:nvPr/>
        </p:nvSpPr>
        <p:spPr>
          <a:xfrm>
            <a:off x="502920" y="164592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CTF Workflow</a:t>
            </a:r>
            <a:endParaRPr lang="en-US" sz="2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35D615D-9A1B-1602-D14A-50AC800DA415}"/>
              </a:ext>
            </a:extLst>
          </p:cNvPr>
          <p:cNvSpPr/>
          <p:nvPr/>
        </p:nvSpPr>
        <p:spPr>
          <a:xfrm>
            <a:off x="502920" y="80467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approach a challenge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A5EB177-62C1-6758-0E2C-E6D00F090B4A}"/>
              </a:ext>
            </a:extLst>
          </p:cNvPr>
          <p:cNvSpPr/>
          <p:nvPr/>
        </p:nvSpPr>
        <p:spPr>
          <a:xfrm>
            <a:off x="411480" y="1234440"/>
            <a:ext cx="1554480" cy="329184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DAF3B814-31C2-5869-40AD-AE420233C5D4}"/>
              </a:ext>
            </a:extLst>
          </p:cNvPr>
          <p:cNvSpPr/>
          <p:nvPr/>
        </p:nvSpPr>
        <p:spPr>
          <a:xfrm>
            <a:off x="914400" y="1325880"/>
            <a:ext cx="566928" cy="56692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0DFA731-90D8-4391-ED07-9B8663B92FBE}"/>
              </a:ext>
            </a:extLst>
          </p:cNvPr>
          <p:cNvSpPr/>
          <p:nvPr/>
        </p:nvSpPr>
        <p:spPr>
          <a:xfrm>
            <a:off x="914400" y="13258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AFD64A1-7812-8C32-89AE-D1181F09A86E}"/>
              </a:ext>
            </a:extLst>
          </p:cNvPr>
          <p:cNvSpPr/>
          <p:nvPr/>
        </p:nvSpPr>
        <p:spPr>
          <a:xfrm>
            <a:off x="502920" y="20116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Recon</a:t>
            </a:r>
            <a:endParaRPr lang="en-US" sz="14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6CB9A0A-9A20-47F8-8963-59FB396C7B3E}"/>
              </a:ext>
            </a:extLst>
          </p:cNvPr>
          <p:cNvSpPr/>
          <p:nvPr/>
        </p:nvSpPr>
        <p:spPr>
          <a:xfrm>
            <a:off x="502920" y="2468880"/>
            <a:ext cx="1371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file, strings, checksec</a:t>
            </a:r>
            <a:endParaRPr lang="en-US" sz="11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ctr">
              <a:buNone/>
            </a:pPr>
            <a:r>
              <a:rPr lang="en-US" sz="115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binary type &amp; protections</a:t>
            </a:r>
            <a:endParaRPr lang="en-US" sz="11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5C51013A-6383-2B56-4D53-5BAA2A36AC70}"/>
              </a:ext>
            </a:extLst>
          </p:cNvPr>
          <p:cNvSpPr/>
          <p:nvPr/>
        </p:nvSpPr>
        <p:spPr>
          <a:xfrm>
            <a:off x="1984248" y="237744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DA18E35E-F569-DEB9-448E-62A066920166}"/>
              </a:ext>
            </a:extLst>
          </p:cNvPr>
          <p:cNvSpPr/>
          <p:nvPr/>
        </p:nvSpPr>
        <p:spPr>
          <a:xfrm>
            <a:off x="2103120" y="1234440"/>
            <a:ext cx="1554480" cy="329184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E712AF48-A1D4-CD4A-30F2-7AD097B54B22}"/>
              </a:ext>
            </a:extLst>
          </p:cNvPr>
          <p:cNvSpPr/>
          <p:nvPr/>
        </p:nvSpPr>
        <p:spPr>
          <a:xfrm>
            <a:off x="2606040" y="1325880"/>
            <a:ext cx="566928" cy="56692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C8DA6E25-AE21-F029-FA02-254BFF373B91}"/>
              </a:ext>
            </a:extLst>
          </p:cNvPr>
          <p:cNvSpPr/>
          <p:nvPr/>
        </p:nvSpPr>
        <p:spPr>
          <a:xfrm>
            <a:off x="2606040" y="13258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363F2A08-9970-38D1-337F-4F63087E11C0}"/>
              </a:ext>
            </a:extLst>
          </p:cNvPr>
          <p:cNvSpPr/>
          <p:nvPr/>
        </p:nvSpPr>
        <p:spPr>
          <a:xfrm>
            <a:off x="2194560" y="20116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Static Analysis</a:t>
            </a:r>
            <a:endParaRPr lang="en-US" sz="14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7A632238-4E4A-286B-0667-FFD855285DE9}"/>
              </a:ext>
            </a:extLst>
          </p:cNvPr>
          <p:cNvSpPr/>
          <p:nvPr/>
        </p:nvSpPr>
        <p:spPr>
          <a:xfrm>
            <a:off x="2194560" y="2468880"/>
            <a:ext cx="1371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Ghidra / IDA</a:t>
            </a:r>
            <a:endParaRPr lang="en-US" sz="11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ctr">
              <a:buNone/>
            </a:pPr>
            <a:r>
              <a:rPr lang="en-US" sz="115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decompiled code, find vuln</a:t>
            </a:r>
            <a:endParaRPr lang="en-US" sz="11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CDDA6866-06B1-3520-ACD4-1DDC55EE8DE2}"/>
              </a:ext>
            </a:extLst>
          </p:cNvPr>
          <p:cNvSpPr/>
          <p:nvPr/>
        </p:nvSpPr>
        <p:spPr>
          <a:xfrm>
            <a:off x="3675888" y="237744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546C8D2B-A893-A176-3928-BCD62C56D66C}"/>
              </a:ext>
            </a:extLst>
          </p:cNvPr>
          <p:cNvSpPr/>
          <p:nvPr/>
        </p:nvSpPr>
        <p:spPr>
          <a:xfrm>
            <a:off x="3794760" y="1234440"/>
            <a:ext cx="1554480" cy="329184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5D0CF123-2F3C-76A3-76E6-CF229ADAFA15}"/>
              </a:ext>
            </a:extLst>
          </p:cNvPr>
          <p:cNvSpPr/>
          <p:nvPr/>
        </p:nvSpPr>
        <p:spPr>
          <a:xfrm>
            <a:off x="4297680" y="1325880"/>
            <a:ext cx="566928" cy="56692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132DC6BC-FB29-62FA-F9F0-253065F80FCF}"/>
              </a:ext>
            </a:extLst>
          </p:cNvPr>
          <p:cNvSpPr/>
          <p:nvPr/>
        </p:nvSpPr>
        <p:spPr>
          <a:xfrm>
            <a:off x="4297680" y="13258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40DECE6B-42CF-E445-AF79-44CE8B519696}"/>
              </a:ext>
            </a:extLst>
          </p:cNvPr>
          <p:cNvSpPr/>
          <p:nvPr/>
        </p:nvSpPr>
        <p:spPr>
          <a:xfrm>
            <a:off x="3886200" y="20116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Dynamic Analysis</a:t>
            </a:r>
            <a:endParaRPr lang="en-US" sz="14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39C3CD93-BF52-72CA-21D7-E8FCD68CC2E5}"/>
              </a:ext>
            </a:extLst>
          </p:cNvPr>
          <p:cNvSpPr/>
          <p:nvPr/>
        </p:nvSpPr>
        <p:spPr>
          <a:xfrm>
            <a:off x="3886200" y="2468880"/>
            <a:ext cx="1371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GDB + pwndbg</a:t>
            </a:r>
            <a:endParaRPr lang="en-US" sz="11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ctr">
              <a:buNone/>
            </a:pPr>
            <a:r>
              <a:rPr lang="en-US" sz="115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&amp; observe behavior, set breakpoints</a:t>
            </a:r>
            <a:endParaRPr lang="en-US" sz="11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CB8E4981-A0F3-A60E-774B-AB9588DB845A}"/>
              </a:ext>
            </a:extLst>
          </p:cNvPr>
          <p:cNvSpPr/>
          <p:nvPr/>
        </p:nvSpPr>
        <p:spPr>
          <a:xfrm>
            <a:off x="5367528" y="237744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5834D4B4-7ACA-1D8B-25E1-68A581505E21}"/>
              </a:ext>
            </a:extLst>
          </p:cNvPr>
          <p:cNvSpPr/>
          <p:nvPr/>
        </p:nvSpPr>
        <p:spPr>
          <a:xfrm>
            <a:off x="5486400" y="1234440"/>
            <a:ext cx="1554480" cy="329184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D0AD8191-074C-1FD7-D6A3-7856CF94D8B3}"/>
              </a:ext>
            </a:extLst>
          </p:cNvPr>
          <p:cNvSpPr/>
          <p:nvPr/>
        </p:nvSpPr>
        <p:spPr>
          <a:xfrm>
            <a:off x="5989320" y="1325880"/>
            <a:ext cx="566928" cy="566928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C46E9B54-29E9-F8F6-EB81-D2F0C7AFEA99}"/>
              </a:ext>
            </a:extLst>
          </p:cNvPr>
          <p:cNvSpPr/>
          <p:nvPr/>
        </p:nvSpPr>
        <p:spPr>
          <a:xfrm>
            <a:off x="5989320" y="1325880"/>
            <a:ext cx="566928" cy="5669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CC1E3CAF-05D3-F5DE-B207-A071AD5D0BAA}"/>
              </a:ext>
            </a:extLst>
          </p:cNvPr>
          <p:cNvSpPr/>
          <p:nvPr/>
        </p:nvSpPr>
        <p:spPr>
          <a:xfrm>
            <a:off x="5577840" y="20116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Exploit Dev</a:t>
            </a:r>
            <a:endParaRPr lang="en-US" sz="14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59D0ADAA-466B-C1F0-B7B5-711E3642BFA6}"/>
              </a:ext>
            </a:extLst>
          </p:cNvPr>
          <p:cNvSpPr/>
          <p:nvPr/>
        </p:nvSpPr>
        <p:spPr>
          <a:xfrm>
            <a:off x="5577840" y="2468880"/>
            <a:ext cx="1371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pwntools script</a:t>
            </a:r>
            <a:endParaRPr lang="en-US" sz="11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ctr">
              <a:buNone/>
            </a:pPr>
            <a:r>
              <a:rPr lang="en-US" sz="115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 payload, handle offsets &amp; addresses</a:t>
            </a:r>
            <a:endParaRPr lang="en-US" sz="11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255A2D1B-8A73-12BA-44FF-EFC14A28562D}"/>
              </a:ext>
            </a:extLst>
          </p:cNvPr>
          <p:cNvSpPr/>
          <p:nvPr/>
        </p:nvSpPr>
        <p:spPr>
          <a:xfrm>
            <a:off x="7059168" y="237744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661170B4-6E9A-2351-0752-49C1DBE51F36}"/>
              </a:ext>
            </a:extLst>
          </p:cNvPr>
          <p:cNvSpPr/>
          <p:nvPr/>
        </p:nvSpPr>
        <p:spPr>
          <a:xfrm>
            <a:off x="7178040" y="1234440"/>
            <a:ext cx="1554480" cy="329184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AEA86906-0AB3-F3A9-25A2-A72E4ECF90F7}"/>
              </a:ext>
            </a:extLst>
          </p:cNvPr>
          <p:cNvSpPr/>
          <p:nvPr/>
        </p:nvSpPr>
        <p:spPr>
          <a:xfrm>
            <a:off x="7680960" y="1325880"/>
            <a:ext cx="566928" cy="56692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D7FCEB00-B0A7-A528-BB37-BA963DF07497}"/>
              </a:ext>
            </a:extLst>
          </p:cNvPr>
          <p:cNvSpPr/>
          <p:nvPr/>
        </p:nvSpPr>
        <p:spPr>
          <a:xfrm>
            <a:off x="7680960" y="13258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D34F3D3C-44E2-3B2F-3D75-AD2434B1B716}"/>
              </a:ext>
            </a:extLst>
          </p:cNvPr>
          <p:cNvSpPr/>
          <p:nvPr/>
        </p:nvSpPr>
        <p:spPr>
          <a:xfrm>
            <a:off x="7269480" y="20116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Capture Flag</a:t>
            </a:r>
            <a:endParaRPr lang="en-US" sz="1400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2359649F-4DD6-9CC5-B289-42243F33E989}"/>
              </a:ext>
            </a:extLst>
          </p:cNvPr>
          <p:cNvSpPr/>
          <p:nvPr/>
        </p:nvSpPr>
        <p:spPr>
          <a:xfrm>
            <a:off x="7269480" y="2468880"/>
            <a:ext cx="1371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locally → remote</a:t>
            </a:r>
            <a:endParaRPr lang="en-US" sz="11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ctr">
              <a:buNone/>
            </a:pPr>
            <a:r>
              <a:rPr lang="en-US" sz="115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flag{...} for points!</a:t>
            </a:r>
            <a:endParaRPr lang="en-US" sz="11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14098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164592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 Writeup — picoCTF: vault-door-1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98755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Platform: picoCTF   |   Category: Reverse Engineering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8412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66928" y="160934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file + strings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17520" y="1609344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binary type. Run strings to spot readable text — noticed Java source-like code embedded.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65760" y="2377440"/>
            <a:ext cx="8412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66928" y="243230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Open in Ghidra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017520" y="2432304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Decompile main check function. Found character-by-character comparison against hardcoded array.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65760" y="3200400"/>
            <a:ext cx="8412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66928" y="325526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Extract array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017520" y="3255264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Copied ASCII values from the comparison array. Decoded to: d35cr4mbl3_tH3_cH4r4cT3r5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65760" y="4023360"/>
            <a:ext cx="8412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66928" y="407822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Submit flag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017520" y="4078224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flag{d35cr4mbl3_tH3_cH4r4cT3r5} → Correct! 100 points earned.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164592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Pwn Writeup — pwnable.tw: start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98755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Platform: pwnable.tw   |   Category: Pwn | Vuln: Stack Overflow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8412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66928" y="160934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checksec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17520" y="1609344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canary, no PIE, no NX. Old-school 32-bit ELF. All protections off = shellcode opportunity.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65760" y="2377440"/>
            <a:ext cx="8412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66928" y="243230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Find overflow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017520" y="2432304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GDB: cyclic 100, run, check EIP. Offset = 20 bytes to overwrite return address.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65760" y="3200400"/>
            <a:ext cx="8412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66928" y="325526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Leak stack addr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017520" y="3255264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prints stack pointer via write(). Catch it in pwntools: io.recv() → base = int.from_bytes(...)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65760" y="4023360"/>
            <a:ext cx="8412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66928" y="407822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Inject shellcode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017520" y="4078224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padding + shellcode_addr + asm(shellcraft.sh()). Get shell, cat flag.txt.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BB4F78-0B5B-D30B-EC2B-5C6E7A116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F9D73D8C-F7DB-6D7C-B448-C2BD787C33D7}"/>
              </a:ext>
            </a:extLst>
          </p:cNvPr>
          <p:cNvSpPr/>
          <p:nvPr/>
        </p:nvSpPr>
        <p:spPr>
          <a:xfrm>
            <a:off x="502920" y="164592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&amp; Next Steps</a:t>
            </a:r>
            <a:endParaRPr lang="en-US" sz="2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D34221A-5580-FEF8-9130-0699693AA77A}"/>
              </a:ext>
            </a:extLst>
          </p:cNvPr>
          <p:cNvSpPr/>
          <p:nvPr/>
        </p:nvSpPr>
        <p:spPr>
          <a:xfrm>
            <a:off x="502920" y="80467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start your CTF journey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68F7EB01-3D31-65B3-97A5-4C8297CE61A2}"/>
              </a:ext>
            </a:extLst>
          </p:cNvPr>
          <p:cNvSpPr/>
          <p:nvPr/>
        </p:nvSpPr>
        <p:spPr>
          <a:xfrm>
            <a:off x="411480" y="1097280"/>
            <a:ext cx="4160520" cy="1143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F2029D6-CAA0-E05E-7B88-81FB0807D7C8}"/>
              </a:ext>
            </a:extLst>
          </p:cNvPr>
          <p:cNvSpPr/>
          <p:nvPr/>
        </p:nvSpPr>
        <p:spPr>
          <a:xfrm>
            <a:off x="612648" y="11887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picoCTF</a:t>
            </a:r>
            <a:endParaRPr lang="en-US" sz="15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6C6E916-732C-DF9E-C280-4FD024015C23}"/>
              </a:ext>
            </a:extLst>
          </p:cNvPr>
          <p:cNvSpPr/>
          <p:nvPr/>
        </p:nvSpPr>
        <p:spPr>
          <a:xfrm>
            <a:off x="612648" y="15087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picoctf.org</a:t>
            </a:r>
            <a:endParaRPr lang="en-US" sz="11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AB4EBCA5-E3DB-FBB0-260F-3371A7F110F0}"/>
              </a:ext>
            </a:extLst>
          </p:cNvPr>
          <p:cNvSpPr/>
          <p:nvPr/>
        </p:nvSpPr>
        <p:spPr>
          <a:xfrm>
            <a:off x="612648" y="1755648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beginner CTF — great challenges &amp; learning path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22C630CD-895F-5A5F-732F-EDAAAE166BDE}"/>
              </a:ext>
            </a:extLst>
          </p:cNvPr>
          <p:cNvSpPr/>
          <p:nvPr/>
        </p:nvSpPr>
        <p:spPr>
          <a:xfrm>
            <a:off x="4800600" y="1097280"/>
            <a:ext cx="4160520" cy="1143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41AEE743-3E63-02A6-E958-D37D929A0A19}"/>
              </a:ext>
            </a:extLst>
          </p:cNvPr>
          <p:cNvSpPr/>
          <p:nvPr/>
        </p:nvSpPr>
        <p:spPr>
          <a:xfrm>
            <a:off x="5001768" y="11887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CTFtime</a:t>
            </a:r>
            <a:endParaRPr lang="en-US" sz="15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E2C9D242-97CA-9ED3-07B1-B95CBF21F2B7}"/>
              </a:ext>
            </a:extLst>
          </p:cNvPr>
          <p:cNvSpPr/>
          <p:nvPr/>
        </p:nvSpPr>
        <p:spPr>
          <a:xfrm>
            <a:off x="5001768" y="15087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ctftime.org</a:t>
            </a:r>
            <a:endParaRPr lang="en-US" sz="11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E610BA2A-BF92-3268-4537-3C4913F7494C}"/>
              </a:ext>
            </a:extLst>
          </p:cNvPr>
          <p:cNvSpPr/>
          <p:nvPr/>
        </p:nvSpPr>
        <p:spPr>
          <a:xfrm>
            <a:off x="5001768" y="1755648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of all upcoming CTF events worldwide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780BB85D-C6EE-D582-833A-5933121C4499}"/>
              </a:ext>
            </a:extLst>
          </p:cNvPr>
          <p:cNvSpPr/>
          <p:nvPr/>
        </p:nvSpPr>
        <p:spPr>
          <a:xfrm>
            <a:off x="411480" y="2395728"/>
            <a:ext cx="4160520" cy="1143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F443B69A-8587-CE4E-F19D-358EAAF8214F}"/>
              </a:ext>
            </a:extLst>
          </p:cNvPr>
          <p:cNvSpPr/>
          <p:nvPr/>
        </p:nvSpPr>
        <p:spPr>
          <a:xfrm>
            <a:off x="612648" y="248716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TryHackMe</a:t>
            </a:r>
            <a:endParaRPr lang="en-US" sz="15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C9717E61-6853-F372-FA10-6152B36F30B3}"/>
              </a:ext>
            </a:extLst>
          </p:cNvPr>
          <p:cNvSpPr/>
          <p:nvPr/>
        </p:nvSpPr>
        <p:spPr>
          <a:xfrm>
            <a:off x="612648" y="280720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tryhackme.com</a:t>
            </a:r>
            <a:endParaRPr lang="en-US" sz="11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209C26E6-8BB1-1703-1269-F9BF08368950}"/>
              </a:ext>
            </a:extLst>
          </p:cNvPr>
          <p:cNvSpPr/>
          <p:nvPr/>
        </p:nvSpPr>
        <p:spPr>
          <a:xfrm>
            <a:off x="612648" y="3054096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learning rooms — web, RE, forensics &amp; more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D4BB5A54-22C7-2860-E199-02205B7449BB}"/>
              </a:ext>
            </a:extLst>
          </p:cNvPr>
          <p:cNvSpPr/>
          <p:nvPr/>
        </p:nvSpPr>
        <p:spPr>
          <a:xfrm>
            <a:off x="4800600" y="2395728"/>
            <a:ext cx="4160520" cy="1143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951FEA5E-912C-4219-6A4B-7DD45667912D}"/>
              </a:ext>
            </a:extLst>
          </p:cNvPr>
          <p:cNvSpPr/>
          <p:nvPr/>
        </p:nvSpPr>
        <p:spPr>
          <a:xfrm>
            <a:off x="5001768" y="248716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HackTheBox</a:t>
            </a:r>
            <a:endParaRPr lang="en-US" sz="15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2C99CA34-435A-0F69-7292-5BF1A9E57AE4}"/>
              </a:ext>
            </a:extLst>
          </p:cNvPr>
          <p:cNvSpPr/>
          <p:nvPr/>
        </p:nvSpPr>
        <p:spPr>
          <a:xfrm>
            <a:off x="5001768" y="280720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hackthebox.eu</a:t>
            </a:r>
            <a:endParaRPr lang="en-US" sz="11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8FFF15D3-FE34-F0F0-3C5D-4015F6AEBA0C}"/>
              </a:ext>
            </a:extLst>
          </p:cNvPr>
          <p:cNvSpPr/>
          <p:nvPr/>
        </p:nvSpPr>
        <p:spPr>
          <a:xfrm>
            <a:off x="5001768" y="3054096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Intermediate+: real machines to root, active community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B7684C83-E822-6F0A-F1C4-A3CC8280FFA1}"/>
              </a:ext>
            </a:extLst>
          </p:cNvPr>
          <p:cNvSpPr/>
          <p:nvPr/>
        </p:nvSpPr>
        <p:spPr>
          <a:xfrm>
            <a:off x="411480" y="3694176"/>
            <a:ext cx="4160520" cy="1143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563B57DA-8F56-09C5-F39D-C877EC26F4FB}"/>
              </a:ext>
            </a:extLst>
          </p:cNvPr>
          <p:cNvSpPr/>
          <p:nvPr/>
        </p:nvSpPr>
        <p:spPr>
          <a:xfrm>
            <a:off x="612648" y="378561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ir0nstone's Notes</a:t>
            </a:r>
            <a:endParaRPr lang="en-US" sz="15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18D05897-B6C2-5F94-6E04-23BE368F02A5}"/>
              </a:ext>
            </a:extLst>
          </p:cNvPr>
          <p:cNvSpPr/>
          <p:nvPr/>
        </p:nvSpPr>
        <p:spPr>
          <a:xfrm>
            <a:off x="612648" y="410565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ir0nstone.gitbook.io</a:t>
            </a:r>
            <a:endParaRPr lang="en-US" sz="110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F74AB41A-FA44-0C5B-FAB1-020D7CF0DB5A}"/>
              </a:ext>
            </a:extLst>
          </p:cNvPr>
          <p:cNvSpPr/>
          <p:nvPr/>
        </p:nvSpPr>
        <p:spPr>
          <a:xfrm>
            <a:off x="612648" y="4352544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free resource for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pwn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&amp; binary exploitation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1620784F-A962-177F-0816-A810CD5172D7}"/>
              </a:ext>
            </a:extLst>
          </p:cNvPr>
          <p:cNvSpPr/>
          <p:nvPr/>
        </p:nvSpPr>
        <p:spPr>
          <a:xfrm>
            <a:off x="4800600" y="3694176"/>
            <a:ext cx="4160520" cy="1143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B7118F08-616A-D1C8-A29E-2EBADDA56E54}"/>
              </a:ext>
            </a:extLst>
          </p:cNvPr>
          <p:cNvSpPr/>
          <p:nvPr/>
        </p:nvSpPr>
        <p:spPr>
          <a:xfrm>
            <a:off x="5001768" y="378561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CTF Field Guide</a:t>
            </a:r>
            <a:endParaRPr lang="en-US" sz="15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19C6F031-1114-2EB1-453E-04DAC43E5B45}"/>
              </a:ext>
            </a:extLst>
          </p:cNvPr>
          <p:cNvSpPr/>
          <p:nvPr/>
        </p:nvSpPr>
        <p:spPr>
          <a:xfrm>
            <a:off x="5001768" y="410565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trailofbits.github.io/ctf</a:t>
            </a:r>
            <a:endParaRPr lang="en-US" sz="110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50FADBE7-E2F8-5D37-5095-8C1E1F667FF1}"/>
              </a:ext>
            </a:extLst>
          </p:cNvPr>
          <p:cNvSpPr/>
          <p:nvPr/>
        </p:nvSpPr>
        <p:spPr>
          <a:xfrm>
            <a:off x="5001768" y="4352544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Trail of Bits' comprehensive CTF reference guide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33641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D1D858-E832-5D28-FFD1-2704945D6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358B4EFA-A0A3-CAD3-2112-D546E48F36B2}"/>
              </a:ext>
            </a:extLst>
          </p:cNvPr>
          <p:cNvSpPr/>
          <p:nvPr/>
        </p:nvSpPr>
        <p:spPr>
          <a:xfrm>
            <a:off x="457199" y="138303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kern="0" spc="2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7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07D678C-2D30-6CB4-9E8C-04AC4FBDB22C}"/>
              </a:ext>
            </a:extLst>
          </p:cNvPr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KOSS IIT Kharagpur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D4672CF-9E12-8A44-D46C-53E2462388EF}"/>
              </a:ext>
            </a:extLst>
          </p:cNvPr>
          <p:cNvSpPr txBox="1"/>
          <p:nvPr/>
        </p:nvSpPr>
        <p:spPr>
          <a:xfrm>
            <a:off x="3792907" y="2996356"/>
            <a:ext cx="155818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Submitted by </a:t>
            </a:r>
          </a:p>
          <a:p>
            <a:pPr algn="ctr"/>
            <a:r>
              <a:rPr lang="en-US" dirty="0"/>
              <a:t>Aditya Rajbhar</a:t>
            </a:r>
          </a:p>
          <a:p>
            <a:pPr algn="ctr"/>
            <a:r>
              <a:rPr lang="en-US" sz="1200" dirty="0"/>
              <a:t>25CE10027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15545104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252</TotalTime>
  <Words>1368</Words>
  <Application>Microsoft Office PowerPoint</Application>
  <PresentationFormat>On-screen Show (16:9)</PresentationFormat>
  <Paragraphs>245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Capture the Flag (CTF) Competitions</dc:title>
  <dc:subject>PptxGenJS Presentation</dc:subject>
  <dc:creator>KOSS</dc:creator>
  <cp:lastModifiedBy>Aditya Rajbhar</cp:lastModifiedBy>
  <cp:revision>5</cp:revision>
  <dcterms:created xsi:type="dcterms:W3CDTF">2026-04-06T14:25:21Z</dcterms:created>
  <dcterms:modified xsi:type="dcterms:W3CDTF">2026-04-07T18:41:48Z</dcterms:modified>
</cp:coreProperties>
</file>