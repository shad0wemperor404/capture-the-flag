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2" r:id="rId2"/>
    <p:sldId id="274" r:id="rId3"/>
    <p:sldId id="258" r:id="rId4"/>
    <p:sldId id="275" r:id="rId5"/>
    <p:sldId id="260" r:id="rId6"/>
    <p:sldId id="276" r:id="rId7"/>
    <p:sldId id="277" r:id="rId8"/>
    <p:sldId id="263" r:id="rId9"/>
    <p:sldId id="278" r:id="rId10"/>
    <p:sldId id="279" r:id="rId11"/>
    <p:sldId id="266" r:id="rId12"/>
    <p:sldId id="280" r:id="rId13"/>
    <p:sldId id="268" r:id="rId14"/>
    <p:sldId id="269" r:id="rId15"/>
    <p:sldId id="281" r:id="rId16"/>
    <p:sldId id="28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3211"/>
    <a:srgbClr val="7A0000"/>
    <a:srgbClr val="008254"/>
    <a:srgbClr val="00D084"/>
    <a:srgbClr val="0054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54" autoAdjust="0"/>
  </p:normalViewPr>
  <p:slideViewPr>
    <p:cSldViewPr snapToGrid="0" snapToObjects="1">
      <p:cViewPr varScale="1">
        <p:scale>
          <a:sx n="134" d="100"/>
          <a:sy n="134" d="100"/>
        </p:scale>
        <p:origin x="125" y="11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106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608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C19E5-9DBE-CDC1-342C-1D98BB92E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E232E-6C20-24E6-87D8-B517A072E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0ACAA-C88F-DF6A-3E26-3C13E0D40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AF4AA-B3AE-B321-399D-506909456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24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5C19-C3FE-06ED-5FC8-89303F89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F80BB-9884-1EEE-E635-D623D1E34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90007-75D1-6D23-8DB0-FEE1386EB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3DA34-D4AC-B556-868D-007AE2BA3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0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B6E2-C58E-B6CE-0575-1B6D246E1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E21D4-E1F4-7B11-3168-D5EB0EB7E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9278E-851B-1FF9-3D13-71BC840C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0D664-7F53-919B-39C6-E3E716E0B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790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DE723-52B4-5A1B-50AC-736BCD6D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5A880-3CF8-B618-9A71-C61E701D0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30179-63EE-5884-FE95-9FE791E1E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D0D69-38AA-73D2-B575-15723C5A8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39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80A9-EDD8-F807-E902-BF4B09AB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DF86B-00F2-3197-6372-FA6EE9167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5C267-3DB7-3F9E-7E18-2B2847113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C8BCF-9147-965E-631F-251245827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230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4B807-B60D-6DE5-9738-B51E50DC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3CAA0-5F4F-58BC-EB5C-783D1E7EF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6C463-D591-BE2D-A968-8C6D175B5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AA8EB-B24E-4FEA-670B-15E075854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14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BA4D-8A29-96F9-6FC9-AC899EAE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61B7C-16D5-CC93-88FB-309C83BAF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B70FF-9476-0097-8FE2-986669A24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7D6BB-1585-F713-B255-757E7D2C3B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250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29DDD-B884-ED02-8556-D33BE6D4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504C8-08F1-C14D-70B8-018285F13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1F2C4-F17A-696A-EAC2-DD817F4EE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CA12-097C-1C48-28C7-EFB5F68E3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711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035A-7DEC-FA38-4A3A-C2D42A47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11E65B-D27D-28C1-E996-AAE703E1A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94CE0-9C16-FEF4-8A38-CD5B6D71B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C24E8-A6AA-17DF-F2DC-4CF24E537B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575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B59A-1AD6-0DD1-030D-62F63F7F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98448-E28C-86E6-20C4-F79F9505D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7235B-4551-BA53-835D-6988A3EC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68E9A-85C2-77B7-382C-9EB2864FBD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91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10C25-0DA4-7034-1E51-121D8CF6D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1DB221-5DD6-D6B1-9CF7-88425F6E4F55}"/>
              </a:ext>
            </a:extLst>
          </p:cNvPr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5973A4-80FB-DC0C-8E44-894D63B8CD39}"/>
              </a:ext>
            </a:extLst>
          </p:cNvPr>
          <p:cNvSpPr/>
          <p:nvPr/>
        </p:nvSpPr>
        <p:spPr>
          <a:xfrm>
            <a:off x="0" y="0"/>
            <a:ext cx="9144" cy="4389120"/>
          </a:xfrm>
          <a:prstGeom prst="rect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5649974-19A4-4CA4-8809-C9730D2EC4F7}"/>
              </a:ext>
            </a:extLst>
          </p:cNvPr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FLAG</a:t>
            </a:r>
            <a:endParaRPr lang="en-US" sz="5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AD4639F-78E0-B253-9696-EF7268D8CB75}"/>
              </a:ext>
            </a:extLst>
          </p:cNvPr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CTF Competitions</a:t>
            </a:r>
            <a:endParaRPr lang="en-US" sz="3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06AE138-0213-096F-B67F-FD030BDEC659}"/>
              </a:ext>
            </a:extLst>
          </p:cNvPr>
          <p:cNvSpPr/>
          <p:nvPr/>
        </p:nvSpPr>
        <p:spPr>
          <a:xfrm>
            <a:off x="640080" y="2423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Cybersecurity Competitions,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 &amp; Binary Exploitation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E02526E-2AC0-C207-E57D-6671B6C10F7D}"/>
              </a:ext>
            </a:extLst>
          </p:cNvPr>
          <p:cNvSpPr/>
          <p:nvPr/>
        </p:nvSpPr>
        <p:spPr>
          <a:xfrm>
            <a:off x="64008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KOSS IIT Kharagpur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4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209E6-F28B-694F-230C-CF13D8D3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19EBAFE-003D-856D-86E5-A978D8B5382D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E0202E-CC1F-7786-F9A6-AF2C8AC913EA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A692AD0-4532-AF62-5A2C-5387665436FE}"/>
              </a:ext>
            </a:extLst>
          </p:cNvPr>
          <p:cNvSpPr/>
          <p:nvPr/>
        </p:nvSpPr>
        <p:spPr>
          <a:xfrm>
            <a:off x="411480" y="114300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6C1AB8-CCD6-BA32-7561-7AE8F33806EC}"/>
              </a:ext>
            </a:extLst>
          </p:cNvPr>
          <p:cNvSpPr/>
          <p:nvPr/>
        </p:nvSpPr>
        <p:spPr>
          <a:xfrm>
            <a:off x="548640" y="1188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3C9EB1-178C-32F3-CEDC-0E97798041AA}"/>
              </a:ext>
            </a:extLst>
          </p:cNvPr>
          <p:cNvSpPr/>
          <p:nvPr/>
        </p:nvSpPr>
        <p:spPr>
          <a:xfrm>
            <a:off x="1143000" y="1188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Hacking Basics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A72641B-C5B8-30FC-4027-7F12D5FEB1E8}"/>
              </a:ext>
            </a:extLst>
          </p:cNvPr>
          <p:cNvSpPr/>
          <p:nvPr/>
        </p:nvSpPr>
        <p:spPr>
          <a:xfrm>
            <a:off x="411480" y="201168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5D1D484-3369-F600-8A79-DC042F62BEAD}"/>
              </a:ext>
            </a:extLst>
          </p:cNvPr>
          <p:cNvSpPr/>
          <p:nvPr/>
        </p:nvSpPr>
        <p:spPr>
          <a:xfrm>
            <a:off x="548640" y="2057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D0BDD73-1A54-27E9-13F8-C5FE468D0AA3}"/>
              </a:ext>
            </a:extLst>
          </p:cNvPr>
          <p:cNvSpPr/>
          <p:nvPr/>
        </p:nvSpPr>
        <p:spPr>
          <a:xfrm>
            <a:off x="1143000" y="2057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CTF Competitions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080DCDE-9D93-CD1C-3AB7-CBC3CD3BEF99}"/>
              </a:ext>
            </a:extLst>
          </p:cNvPr>
          <p:cNvSpPr/>
          <p:nvPr/>
        </p:nvSpPr>
        <p:spPr>
          <a:xfrm>
            <a:off x="411480" y="288036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2EE9DA9-0E60-0F6A-71F6-78505FB6859D}"/>
              </a:ext>
            </a:extLst>
          </p:cNvPr>
          <p:cNvSpPr/>
          <p:nvPr/>
        </p:nvSpPr>
        <p:spPr>
          <a:xfrm>
            <a:off x="548640" y="2926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BD01F43-5C21-D490-F453-C047056F80B0}"/>
              </a:ext>
            </a:extLst>
          </p:cNvPr>
          <p:cNvSpPr/>
          <p:nvPr/>
        </p:nvSpPr>
        <p:spPr>
          <a:xfrm>
            <a:off x="114300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CTF Challenges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4CD0B60-BC2E-66F2-5D3F-E0906590ACAA}"/>
              </a:ext>
            </a:extLst>
          </p:cNvPr>
          <p:cNvSpPr/>
          <p:nvPr/>
        </p:nvSpPr>
        <p:spPr>
          <a:xfrm>
            <a:off x="411480" y="374904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5F45810-ED06-BFDF-96A5-FDA4A6EA5C8A}"/>
              </a:ext>
            </a:extLst>
          </p:cNvPr>
          <p:cNvSpPr/>
          <p:nvPr/>
        </p:nvSpPr>
        <p:spPr>
          <a:xfrm>
            <a:off x="548640" y="3794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857B327-4EF1-ED22-9E7A-8CA890ECB61E}"/>
              </a:ext>
            </a:extLst>
          </p:cNvPr>
          <p:cNvSpPr/>
          <p:nvPr/>
        </p:nvSpPr>
        <p:spPr>
          <a:xfrm>
            <a:off x="1143000" y="3794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 – Deep Dive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2BB1BE3-5452-93F2-AD44-AA57E635DC0D}"/>
              </a:ext>
            </a:extLst>
          </p:cNvPr>
          <p:cNvSpPr/>
          <p:nvPr/>
        </p:nvSpPr>
        <p:spPr>
          <a:xfrm>
            <a:off x="4754880" y="114300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2EB7F3E-07F4-323E-2B32-18EE88055156}"/>
              </a:ext>
            </a:extLst>
          </p:cNvPr>
          <p:cNvSpPr/>
          <p:nvPr/>
        </p:nvSpPr>
        <p:spPr>
          <a:xfrm>
            <a:off x="4892040" y="1188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9296212-FEC8-4EDA-ED85-959E3599A791}"/>
              </a:ext>
            </a:extLst>
          </p:cNvPr>
          <p:cNvSpPr/>
          <p:nvPr/>
        </p:nvSpPr>
        <p:spPr>
          <a:xfrm>
            <a:off x="5486400" y="1188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Pwning &amp; Binary Exploitation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4956288-4721-ECCB-CC79-2984ED7701F5}"/>
              </a:ext>
            </a:extLst>
          </p:cNvPr>
          <p:cNvSpPr/>
          <p:nvPr/>
        </p:nvSpPr>
        <p:spPr>
          <a:xfrm>
            <a:off x="4754880" y="201168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A0CF27B-F3FF-5495-A28A-A2F8EF1359DA}"/>
              </a:ext>
            </a:extLst>
          </p:cNvPr>
          <p:cNvSpPr/>
          <p:nvPr/>
        </p:nvSpPr>
        <p:spPr>
          <a:xfrm>
            <a:off x="4892040" y="2057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06B41FD-C69D-9903-FA13-16B51B0B748F}"/>
              </a:ext>
            </a:extLst>
          </p:cNvPr>
          <p:cNvSpPr/>
          <p:nvPr/>
        </p:nvSpPr>
        <p:spPr>
          <a:xfrm>
            <a:off x="5486400" y="2057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Writeups – Real Challenges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6391612-18A5-CD7A-025C-E39234FF94FD}"/>
              </a:ext>
            </a:extLst>
          </p:cNvPr>
          <p:cNvSpPr/>
          <p:nvPr/>
        </p:nvSpPr>
        <p:spPr>
          <a:xfrm>
            <a:off x="4754880" y="288036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DC007A2-7A44-0F6D-0016-5D4652BA4641}"/>
              </a:ext>
            </a:extLst>
          </p:cNvPr>
          <p:cNvSpPr/>
          <p:nvPr/>
        </p:nvSpPr>
        <p:spPr>
          <a:xfrm>
            <a:off x="4892040" y="2926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32847CF-6B4B-27E8-4AA1-118FA670CFE0}"/>
              </a:ext>
            </a:extLst>
          </p:cNvPr>
          <p:cNvSpPr/>
          <p:nvPr/>
        </p:nvSpPr>
        <p:spPr>
          <a:xfrm>
            <a:off x="548640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20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Hacking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Cybersecurity?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7784" y="138074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of protecting systems, networks, and programs from digital attacks.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" y="202082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confidentiality, integrity, and availability (CIA triad).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" y="266090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software, hardware, networks, and human factors.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91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Hacking?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&amp; exploiting weaknesses in systems — ethically (white-hat) or maliciously (black-hat). CTF = white-hat training ground.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987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Cyber Threats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463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Viruses, ransomware, spyware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075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0756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via fake emails/sites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6883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manipulation through input fields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300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3009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or hijack programs via memory bugs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Zero-Day Exploits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9136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on unpatched vulnerabilities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B599E-77B6-7F42-700D-988566CAA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79F13F2-A8E6-790E-DDB9-4A7DEB0DC0AD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is CTF?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9F36A2-48CB-50B3-6205-5A2788F5F68E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Flag – Jeopardy Format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A4022C7-8F29-CDB4-3527-8EAB4FF964CF}"/>
              </a:ext>
            </a:extLst>
          </p:cNvPr>
          <p:cNvSpPr/>
          <p:nvPr/>
        </p:nvSpPr>
        <p:spPr>
          <a:xfrm>
            <a:off x="50292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competitions are cybersecurity contests where participants solve challenges to find hidden strings called flags.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E7A0D9-83C6-1096-8FA8-C8FF465FB554}"/>
              </a:ext>
            </a:extLst>
          </p:cNvPr>
          <p:cNvSpPr/>
          <p:nvPr/>
        </p:nvSpPr>
        <p:spPr>
          <a:xfrm>
            <a:off x="411480" y="1691640"/>
            <a:ext cx="269748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BDCEA6-243A-C73E-2395-A05FA0082309}"/>
              </a:ext>
            </a:extLst>
          </p:cNvPr>
          <p:cNvSpPr/>
          <p:nvPr/>
        </p:nvSpPr>
        <p:spPr>
          <a:xfrm>
            <a:off x="54864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Flag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4F3B8F3-B9B4-60C4-B6B4-0A4CC3B49C8E}"/>
              </a:ext>
            </a:extLst>
          </p:cNvPr>
          <p:cNvSpPr/>
          <p:nvPr/>
        </p:nvSpPr>
        <p:spPr>
          <a:xfrm>
            <a:off x="548640" y="233172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string like flag{s0me_s3cr3t} hidden inside a challenge. Submit it for points.</a:t>
            </a:r>
            <a:endParaRPr lang="en-US" sz="12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C6DC3BE-4ECF-D168-DB94-92E945C03E07}"/>
              </a:ext>
            </a:extLst>
          </p:cNvPr>
          <p:cNvSpPr/>
          <p:nvPr/>
        </p:nvSpPr>
        <p:spPr>
          <a:xfrm>
            <a:off x="3291840" y="1691640"/>
            <a:ext cx="269748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606537-4CD1-63B4-7B15-559761BC84ED}"/>
              </a:ext>
            </a:extLst>
          </p:cNvPr>
          <p:cNvSpPr/>
          <p:nvPr/>
        </p:nvSpPr>
        <p:spPr>
          <a:xfrm>
            <a:off x="342900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Jeopardy Style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86A9FD8-77A8-DD65-AC5D-CAF7198F29B2}"/>
              </a:ext>
            </a:extLst>
          </p:cNvPr>
          <p:cNvSpPr/>
          <p:nvPr/>
        </p:nvSpPr>
        <p:spPr>
          <a:xfrm>
            <a:off x="3429000" y="233172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challenges across categories. Teams pick what to solve — partial credit on attempts.</a:t>
            </a:r>
            <a:endParaRPr lang="en-US" sz="12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68131C7-83C5-4E27-E8FC-5E8B142E6B74}"/>
              </a:ext>
            </a:extLst>
          </p:cNvPr>
          <p:cNvSpPr/>
          <p:nvPr/>
        </p:nvSpPr>
        <p:spPr>
          <a:xfrm>
            <a:off x="6172200" y="1691640"/>
            <a:ext cx="269748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605B56-E370-CEED-53D1-90A1CE15FF72}"/>
              </a:ext>
            </a:extLst>
          </p:cNvPr>
          <p:cNvSpPr/>
          <p:nvPr/>
        </p:nvSpPr>
        <p:spPr>
          <a:xfrm>
            <a:off x="630936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5DE0476-3F08-FB28-2761-1AB12FFD63D0}"/>
              </a:ext>
            </a:extLst>
          </p:cNvPr>
          <p:cNvSpPr/>
          <p:nvPr/>
        </p:nvSpPr>
        <p:spPr>
          <a:xfrm>
            <a:off x="6309360" y="233172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 each flag. Dynamic scoring — harder challenges worth more. Tiebreak by earliest submission.</a:t>
            </a:r>
            <a:endParaRPr lang="en-US" sz="12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0C16682-793B-87F3-88C8-10AB094CFC50}"/>
              </a:ext>
            </a:extLst>
          </p:cNvPr>
          <p:cNvSpPr/>
          <p:nvPr/>
        </p:nvSpPr>
        <p:spPr>
          <a:xfrm>
            <a:off x="50292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platforms: picoCTF · CTFtime · HackTheBox · TryHackMe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10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CTF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XSS, CSRF, server misconfigs, auth bypass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834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ciphers, RSA, AES, hash cracking, encoding tricks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carving, steganography, memory dumps, network pcap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8348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r>
              <a:rPr lang="en-US" sz="16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788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Disassembling binaries, decompiling, understanding logic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3703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Pwn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4114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overflows, format strings, heap exploits, ROP chains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83480" y="3703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Misc / OSINT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3480" y="4114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Trivia, recon, steganography, open-source intelligence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8ABB3-4418-1F9D-6E1E-F3CF607E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13494CD-7FD3-9273-EA76-A028B3A2CFD0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 &amp; Techniques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4FD40B-A462-9741-8032-BB169A15D070}"/>
              </a:ext>
            </a:extLst>
          </p:cNvPr>
          <p:cNvSpPr/>
          <p:nvPr/>
        </p:nvSpPr>
        <p:spPr>
          <a:xfrm>
            <a:off x="411480" y="114300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6095A2-E135-E600-A325-7C93917A040D}"/>
              </a:ext>
            </a:extLst>
          </p:cNvPr>
          <p:cNvSpPr/>
          <p:nvPr/>
        </p:nvSpPr>
        <p:spPr>
          <a:xfrm>
            <a:off x="548640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18195D6-4D1C-BA42-C053-87EACA0C09F8}"/>
              </a:ext>
            </a:extLst>
          </p:cNvPr>
          <p:cNvSpPr/>
          <p:nvPr/>
        </p:nvSpPr>
        <p:spPr>
          <a:xfrm>
            <a:off x="548640" y="1691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pwntools · pycryptodome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7DA53DC-1FF6-53B0-45E6-533EAAD033A1}"/>
              </a:ext>
            </a:extLst>
          </p:cNvPr>
          <p:cNvSpPr/>
          <p:nvPr/>
        </p:nvSpPr>
        <p:spPr>
          <a:xfrm>
            <a:off x="3337560" y="114300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C15904-E5E0-20FC-1180-30EFF07E1F57}"/>
              </a:ext>
            </a:extLst>
          </p:cNvPr>
          <p:cNvSpPr/>
          <p:nvPr/>
        </p:nvSpPr>
        <p:spPr>
          <a:xfrm>
            <a:off x="3474720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83D12DB-0923-A245-0FFD-07D663699841}"/>
              </a:ext>
            </a:extLst>
          </p:cNvPr>
          <p:cNvSpPr/>
          <p:nvPr/>
        </p:nvSpPr>
        <p:spPr>
          <a:xfrm>
            <a:off x="3474720" y="1691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Ghidra · IDA Pro · Binary Ninja · Radare2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D49F20F-78C1-7A71-B5D6-32511A95A70E}"/>
              </a:ext>
            </a:extLst>
          </p:cNvPr>
          <p:cNvSpPr/>
          <p:nvPr/>
        </p:nvSpPr>
        <p:spPr>
          <a:xfrm>
            <a:off x="6263640" y="114300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4AB4C50-99E2-03EC-DF54-EF3E1470F83C}"/>
              </a:ext>
            </a:extLst>
          </p:cNvPr>
          <p:cNvSpPr/>
          <p:nvPr/>
        </p:nvSpPr>
        <p:spPr>
          <a:xfrm>
            <a:off x="6400800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3899905-611A-B4BE-EBB8-CCBEE288DD2A}"/>
              </a:ext>
            </a:extLst>
          </p:cNvPr>
          <p:cNvSpPr/>
          <p:nvPr/>
        </p:nvSpPr>
        <p:spPr>
          <a:xfrm>
            <a:off x="6400800" y="1691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+ pwndbg/peda · strace · ltrace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23382B2-7C9E-0249-3AEA-CAA936264BC9}"/>
              </a:ext>
            </a:extLst>
          </p:cNvPr>
          <p:cNvSpPr/>
          <p:nvPr/>
        </p:nvSpPr>
        <p:spPr>
          <a:xfrm>
            <a:off x="411480" y="265176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CDD61A7-EDE1-485A-63DD-9469111B3A11}"/>
              </a:ext>
            </a:extLst>
          </p:cNvPr>
          <p:cNvSpPr/>
          <p:nvPr/>
        </p:nvSpPr>
        <p:spPr>
          <a:xfrm>
            <a:off x="548640" y="2788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086DBB2-755F-39D4-F577-01E2C565EFD9}"/>
              </a:ext>
            </a:extLst>
          </p:cNvPr>
          <p:cNvSpPr/>
          <p:nvPr/>
        </p:nvSpPr>
        <p:spPr>
          <a:xfrm>
            <a:off x="54864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· Burp Suite · netcat · nmap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0A80C97-C392-483F-48FB-2EC547CFE752}"/>
              </a:ext>
            </a:extLst>
          </p:cNvPr>
          <p:cNvSpPr/>
          <p:nvPr/>
        </p:nvSpPr>
        <p:spPr>
          <a:xfrm>
            <a:off x="3337560" y="265176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8ADBF96-FFB5-2A6E-479E-1B44DEC4B43E}"/>
              </a:ext>
            </a:extLst>
          </p:cNvPr>
          <p:cNvSpPr/>
          <p:nvPr/>
        </p:nvSpPr>
        <p:spPr>
          <a:xfrm>
            <a:off x="3474720" y="2788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5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EEEEF32-9623-8AB1-1085-1D3441AC3FA4}"/>
              </a:ext>
            </a:extLst>
          </p:cNvPr>
          <p:cNvSpPr/>
          <p:nvPr/>
        </p:nvSpPr>
        <p:spPr>
          <a:xfrm>
            <a:off x="347472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binwalk · exiftool · Volatility · steghide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5AA77A0-FC45-D8BA-9701-2C4154C2171F}"/>
              </a:ext>
            </a:extLst>
          </p:cNvPr>
          <p:cNvSpPr/>
          <p:nvPr/>
        </p:nvSpPr>
        <p:spPr>
          <a:xfrm>
            <a:off x="6263640" y="265176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7C03F83-22BC-FA55-738A-AC729BBE8F05}"/>
              </a:ext>
            </a:extLst>
          </p:cNvPr>
          <p:cNvSpPr/>
          <p:nvPr/>
        </p:nvSpPr>
        <p:spPr>
          <a:xfrm>
            <a:off x="6400800" y="2788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5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08F5E91-FC9F-858D-07BB-7C9DAE94B86C}"/>
              </a:ext>
            </a:extLst>
          </p:cNvPr>
          <p:cNvSpPr/>
          <p:nvPr/>
        </p:nvSpPr>
        <p:spPr>
          <a:xfrm>
            <a:off x="640080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CyberChef · hashcat · John the Ripper · openssl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163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D2C7-7280-5277-A426-F8B6A932A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15383AF-2CA2-62E4-E2C1-0BA35CD76922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88EA7F-97CB-4B4A-8F7E-0D41192A508C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programs without source code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EF6FC5-7D68-0C1B-1ABF-BFBAE4214D11}"/>
              </a:ext>
            </a:extLst>
          </p:cNvPr>
          <p:cNvSpPr/>
          <p:nvPr/>
        </p:nvSpPr>
        <p:spPr>
          <a:xfrm>
            <a:off x="411480" y="1051560"/>
            <a:ext cx="4069080" cy="3657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822F51-30D4-B3B3-3F46-D1B9280CCB61}"/>
              </a:ext>
            </a:extLst>
          </p:cNvPr>
          <p:cNvSpPr/>
          <p:nvPr/>
        </p:nvSpPr>
        <p:spPr>
          <a:xfrm>
            <a:off x="594360" y="11430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is RE?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6C84BA-D63D-DA0A-F883-6AA40A64B2B3}"/>
              </a:ext>
            </a:extLst>
          </p:cNvPr>
          <p:cNvSpPr/>
          <p:nvPr/>
        </p:nvSpPr>
        <p:spPr>
          <a:xfrm>
            <a:off x="594360" y="164592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compiled binaries to understand their behavior.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EF326FF-8F70-F72C-729D-675040FFEFE8}"/>
              </a:ext>
            </a:extLst>
          </p:cNvPr>
          <p:cNvSpPr/>
          <p:nvPr/>
        </p:nvSpPr>
        <p:spPr>
          <a:xfrm>
            <a:off x="594360" y="224028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code provided — read assembly &amp; decompiled C.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4C3F824-C845-80B3-1E7E-7473F2B4D67A}"/>
              </a:ext>
            </a:extLst>
          </p:cNvPr>
          <p:cNvSpPr/>
          <p:nvPr/>
        </p:nvSpPr>
        <p:spPr>
          <a:xfrm>
            <a:off x="594360" y="283464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the logic to produce the flag.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000634-17FB-882E-C79A-6A1D60401464}"/>
              </a:ext>
            </a:extLst>
          </p:cNvPr>
          <p:cNvSpPr/>
          <p:nvPr/>
        </p:nvSpPr>
        <p:spPr>
          <a:xfrm>
            <a:off x="594360" y="342900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formats: ELF (Linux), PE (Windows), Mach-O (macOS).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0B9171-7F17-332C-7FDF-EFAADA3FB50E}"/>
              </a:ext>
            </a:extLst>
          </p:cNvPr>
          <p:cNvSpPr/>
          <p:nvPr/>
        </p:nvSpPr>
        <p:spPr>
          <a:xfrm>
            <a:off x="594360" y="402336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Rust binaries add obfuscation layers — bytecode / stripped symbols.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03BE04A-FEBB-F4A8-E49C-B6F8118C6CED}"/>
              </a:ext>
            </a:extLst>
          </p:cNvPr>
          <p:cNvSpPr/>
          <p:nvPr/>
        </p:nvSpPr>
        <p:spPr>
          <a:xfrm>
            <a:off x="4754880" y="1051560"/>
            <a:ext cx="3977640" cy="3657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EAC9317-BFBF-4A78-8C79-CBDB7F1D577A}"/>
              </a:ext>
            </a:extLst>
          </p:cNvPr>
          <p:cNvSpPr/>
          <p:nvPr/>
        </p:nvSpPr>
        <p:spPr>
          <a:xfrm>
            <a:off x="4892040" y="114300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crackme logic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check(flag):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 [0x48,0x69,0x64,0x64,0x65,0x6e]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c in enumerate(flag):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ord(c) != key[i]: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995A7B8-B255-D282-35A2-9194A1EC2743}"/>
              </a:ext>
            </a:extLst>
          </p:cNvPr>
          <p:cNvSpPr/>
          <p:nvPr/>
        </p:nvSpPr>
        <p:spPr>
          <a:xfrm>
            <a:off x="4892040" y="31546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recover flag = 'Hidden'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525A6E6-3E4F-58BE-C266-8347328640BC}"/>
              </a:ext>
            </a:extLst>
          </p:cNvPr>
          <p:cNvSpPr/>
          <p:nvPr/>
        </p:nvSpPr>
        <p:spPr>
          <a:xfrm>
            <a:off x="4892040" y="35661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XOR, rot, custom cipher, anti-debug tricks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Identify &amp; bypass them step-by-step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877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Tools &amp;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033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Ghidra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" y="1362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Decompiler / Disassembler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1618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NSA tool. Converts assembly → pseudo-C. Great for large binaries.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01768" y="1033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GDB + pwndbg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1768" y="1362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Debugger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01768" y="1618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execution, inspect registers &amp; memory at runtime.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ltrace / strace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" y="2734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 Tracer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" y="2990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library calls &amp; system calls without reading assembly.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01768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strings / file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01768" y="2734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2990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printable strings. Identify binary type before deep analysis.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2648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objdump / readelf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 Inspector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" y="4361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headers, symbols, GOT/PLT — essential for Linux RE.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01768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CyberChef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01768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Encoder/Decoder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01768" y="4361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kitchen for XOR, base64, ROT, AES and more.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E47C-4CF8-2F0D-1BAF-0E098407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807DAB3-123A-3F7D-F40E-639588CCB507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Rust RE Challenges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12694D-C5E3-E4D2-369E-75056849EE21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Language-specific reverse engineering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E2A62E-E1DF-F89B-7C18-DE952F0F696C}"/>
              </a:ext>
            </a:extLst>
          </p:cNvPr>
          <p:cNvSpPr/>
          <p:nvPr/>
        </p:nvSpPr>
        <p:spPr>
          <a:xfrm>
            <a:off x="411480" y="1078992"/>
            <a:ext cx="4023360" cy="3703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4D96CE-4FF2-8B79-6F51-12BAA638E352}"/>
              </a:ext>
            </a:extLst>
          </p:cNvPr>
          <p:cNvSpPr/>
          <p:nvPr/>
        </p:nvSpPr>
        <p:spPr>
          <a:xfrm>
            <a:off x="59436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RE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321DF17-47C8-2130-B8FA-9B9D09A5C903}"/>
              </a:ext>
            </a:extLst>
          </p:cNvPr>
          <p:cNvSpPr/>
          <p:nvPr/>
        </p:nvSpPr>
        <p:spPr>
          <a:xfrm>
            <a:off x="594360" y="16916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as .pyc (bytecode) files.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3A27DF-0933-F75F-5B15-5B5BAFBD9F6C}"/>
              </a:ext>
            </a:extLst>
          </p:cNvPr>
          <p:cNvSpPr/>
          <p:nvPr/>
        </p:nvSpPr>
        <p:spPr>
          <a:xfrm>
            <a:off x="594360" y="226771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Decompile with uncompyle6 or decompile3.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98920E-29B4-839C-8ADB-E911B556353E}"/>
              </a:ext>
            </a:extLst>
          </p:cNvPr>
          <p:cNvSpPr/>
          <p:nvPr/>
        </p:nvSpPr>
        <p:spPr>
          <a:xfrm>
            <a:off x="594360" y="284378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obfuscated imports, exec() calls, marshal.loads().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57795A4-2D9C-18B7-B2E2-9BA740D820BB}"/>
              </a:ext>
            </a:extLst>
          </p:cNvPr>
          <p:cNvSpPr/>
          <p:nvPr/>
        </p:nvSpPr>
        <p:spPr>
          <a:xfrm>
            <a:off x="594360" y="341985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 module to inspect bytecode inline.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6109A5C-9ACC-FBBC-919A-8BBB76164194}"/>
              </a:ext>
            </a:extLst>
          </p:cNvPr>
          <p:cNvSpPr/>
          <p:nvPr/>
        </p:nvSpPr>
        <p:spPr>
          <a:xfrm>
            <a:off x="594360" y="399592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with PyInstaller? Use pyinstxtractor first.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A5BDC42-9CD6-4D9E-BB60-C95394ED0DC5}"/>
              </a:ext>
            </a:extLst>
          </p:cNvPr>
          <p:cNvSpPr/>
          <p:nvPr/>
        </p:nvSpPr>
        <p:spPr>
          <a:xfrm>
            <a:off x="4709160" y="1078992"/>
            <a:ext cx="4023360" cy="3703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224BCF2-4806-724B-FBD1-CF922AE7167B}"/>
              </a:ext>
            </a:extLst>
          </p:cNvPr>
          <p:cNvSpPr/>
          <p:nvPr/>
        </p:nvSpPr>
        <p:spPr>
          <a:xfrm>
            <a:off x="489204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Rust RE</a:t>
            </a:r>
            <a:endParaRPr lang="en-US" sz="17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698A3D9-C4F0-52FF-5BEC-887BB9B47FEE}"/>
              </a:ext>
            </a:extLst>
          </p:cNvPr>
          <p:cNvSpPr/>
          <p:nvPr/>
        </p:nvSpPr>
        <p:spPr>
          <a:xfrm>
            <a:off x="4892040" y="16916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to native machine code — no bytecode.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A39DC08-8F4D-BBC5-7791-D375F54AC967}"/>
              </a:ext>
            </a:extLst>
          </p:cNvPr>
          <p:cNvSpPr/>
          <p:nvPr/>
        </p:nvSpPr>
        <p:spPr>
          <a:xfrm>
            <a:off x="4892040" y="226771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Mangles symbol names → hard to read in Ghidra.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AEC5C77-F933-48F2-9395-6FD7F56D5EDF}"/>
              </a:ext>
            </a:extLst>
          </p:cNvPr>
          <p:cNvSpPr/>
          <p:nvPr/>
        </p:nvSpPr>
        <p:spPr>
          <a:xfrm>
            <a:off x="4892040" y="284378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cargo-crev or rg for source hints if available.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BD1C1CF-9B37-E7A5-9C23-03C4180168C2}"/>
              </a:ext>
            </a:extLst>
          </p:cNvPr>
          <p:cNvSpPr/>
          <p:nvPr/>
        </p:nvSpPr>
        <p:spPr>
          <a:xfrm>
            <a:off x="4892040" y="341985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Rust's ownership memory model = fewer overflows.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545946D-BFB8-9C01-8E74-100EFF8BECFB}"/>
              </a:ext>
            </a:extLst>
          </p:cNvPr>
          <p:cNvSpPr/>
          <p:nvPr/>
        </p:nvSpPr>
        <p:spPr>
          <a:xfrm>
            <a:off x="4892040" y="399592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handling differs — &amp;str vs String in asm.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233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A1954-8B78-29B0-5815-B6180423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C8950E-3605-1AF7-DBAD-BFB08D017C96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Pwning &amp; Binary Exploitation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158240-E54F-F4EA-B1F7-5D0C69A94EF6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control of a running program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BB0211-77FD-DBD3-D613-7A3E7716FA71}"/>
              </a:ext>
            </a:extLst>
          </p:cNvPr>
          <p:cNvSpPr/>
          <p:nvPr/>
        </p:nvSpPr>
        <p:spPr>
          <a:xfrm>
            <a:off x="502920" y="10241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"Pwning" = exploiting a vulnerability to gain control of a binary or remote service.</a:t>
            </a:r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usually to spawn a shell or read a flag file from the server.</a:t>
            </a:r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696E50-E654-45E7-8283-05E65924F779}"/>
              </a:ext>
            </a:extLst>
          </p:cNvPr>
          <p:cNvSpPr/>
          <p:nvPr/>
        </p:nvSpPr>
        <p:spPr>
          <a:xfrm>
            <a:off x="411480" y="1874520"/>
            <a:ext cx="832104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B8C73FB-B0DE-E557-49A8-B430B30B2825}"/>
              </a:ext>
            </a:extLst>
          </p:cNvPr>
          <p:cNvSpPr/>
          <p:nvPr/>
        </p:nvSpPr>
        <p:spPr>
          <a:xfrm>
            <a:off x="594360" y="1947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767B7FF-C7A1-1CBF-A87D-C3246049A520}"/>
              </a:ext>
            </a:extLst>
          </p:cNvPr>
          <p:cNvSpPr/>
          <p:nvPr/>
        </p:nvSpPr>
        <p:spPr>
          <a:xfrm>
            <a:off x="2788920" y="1947672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past the end of a stack buffer → overwrite return address → hijack execution.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CDA0EB6-9B5B-B1EE-50F5-8687E4CD39F4}"/>
              </a:ext>
            </a:extLst>
          </p:cNvPr>
          <p:cNvSpPr/>
          <p:nvPr/>
        </p:nvSpPr>
        <p:spPr>
          <a:xfrm>
            <a:off x="411480" y="2624328"/>
            <a:ext cx="832104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A68F0B-106A-5DA8-9246-5EE4B337B96A}"/>
              </a:ext>
            </a:extLst>
          </p:cNvPr>
          <p:cNvSpPr/>
          <p:nvPr/>
        </p:nvSpPr>
        <p:spPr>
          <a:xfrm>
            <a:off x="594360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Format String</a:t>
            </a:r>
            <a:endParaRPr lang="en-US" sz="13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81A166-13FD-C9DC-6330-C5049D2687D2}"/>
              </a:ext>
            </a:extLst>
          </p:cNvPr>
          <p:cNvSpPr/>
          <p:nvPr/>
        </p:nvSpPr>
        <p:spPr>
          <a:xfrm>
            <a:off x="2788920" y="269748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controls printf format → arbitrary read/write anywhere in memory.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0500223-8A8E-0763-CF9D-A5435042E3E7}"/>
              </a:ext>
            </a:extLst>
          </p:cNvPr>
          <p:cNvSpPr/>
          <p:nvPr/>
        </p:nvSpPr>
        <p:spPr>
          <a:xfrm>
            <a:off x="411480" y="3374136"/>
            <a:ext cx="832104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D739E31-D249-8426-32CB-DE15D48B5BF6}"/>
              </a:ext>
            </a:extLst>
          </p:cNvPr>
          <p:cNvSpPr/>
          <p:nvPr/>
        </p:nvSpPr>
        <p:spPr>
          <a:xfrm>
            <a:off x="594360" y="34472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Heap Exploitation</a:t>
            </a:r>
            <a:endParaRPr lang="en-US" sz="13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E7443CB-BF50-41FD-11B9-20173B257C42}"/>
              </a:ext>
            </a:extLst>
          </p:cNvPr>
          <p:cNvSpPr/>
          <p:nvPr/>
        </p:nvSpPr>
        <p:spPr>
          <a:xfrm>
            <a:off x="2788920" y="344728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Use-after-free, double-free, heap grooming to corrupt allocator metadata.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7C31BA5-2DD1-6128-3EDE-FBD2D33D07DB}"/>
              </a:ext>
            </a:extLst>
          </p:cNvPr>
          <p:cNvSpPr/>
          <p:nvPr/>
        </p:nvSpPr>
        <p:spPr>
          <a:xfrm>
            <a:off x="411480" y="4123944"/>
            <a:ext cx="832104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FB41C3B-6D70-C25F-D975-90FB7A3A03D7}"/>
              </a:ext>
            </a:extLst>
          </p:cNvPr>
          <p:cNvSpPr/>
          <p:nvPr/>
        </p:nvSpPr>
        <p:spPr>
          <a:xfrm>
            <a:off x="594360" y="4197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Return-Oriented Programming (ROP)</a:t>
            </a:r>
            <a:endParaRPr lang="en-US" sz="13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BFCBCD4-4664-F296-F4C0-CEE537596F6B}"/>
              </a:ext>
            </a:extLst>
          </p:cNvPr>
          <p:cNvSpPr/>
          <p:nvPr/>
        </p:nvSpPr>
        <p:spPr>
          <a:xfrm>
            <a:off x="2788920" y="4197096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existing code gadgets to bypass NX/W^X protections without injecting shellcode.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11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Shellcodes &amp; Binary Protections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Shellcode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machine-code payload injected into a vulnerable program to execute arbitrary commands — usually spawn /bin/sh.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; x86-64 execve('/bin/sh')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xor rdi,rdi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push rdi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mov rdi,rsp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push 59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pop rax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syscall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with: pwntools shellcraft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with: strace, gdb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Modern Protections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ASLR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80760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Randomizes base addresses each run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NX/W^X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80760" y="2103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can't be written AND executed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97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Stack Canary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80760" y="2697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stack smashing before return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80760" y="32918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Position-independent executable — all addresses random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886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RELRO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80760" y="38862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GOT read-only to prevent overwrites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with: checksec --file=binary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9635-89A0-B596-05DA-6DB414CE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D3F34FE-210E-1F5D-4176-B56A763467CE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CTF Workflow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5D615D-9A1B-1602-D14A-50AC800DA415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approach a challenge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A5EB177-62C1-6758-0E2C-E6D00F090B4A}"/>
              </a:ext>
            </a:extLst>
          </p:cNvPr>
          <p:cNvSpPr/>
          <p:nvPr/>
        </p:nvSpPr>
        <p:spPr>
          <a:xfrm>
            <a:off x="411480" y="1234440"/>
            <a:ext cx="15544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AF3B814-31C2-5869-40AD-AE420233C5D4}"/>
              </a:ext>
            </a:extLst>
          </p:cNvPr>
          <p:cNvSpPr/>
          <p:nvPr/>
        </p:nvSpPr>
        <p:spPr>
          <a:xfrm>
            <a:off x="914400" y="13258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0DFA731-90D8-4391-ED07-9B8663B92FBE}"/>
              </a:ext>
            </a:extLst>
          </p:cNvPr>
          <p:cNvSpPr/>
          <p:nvPr/>
        </p:nvSpPr>
        <p:spPr>
          <a:xfrm>
            <a:off x="91440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AFD64A1-7812-8C32-89AE-D1181F09A86E}"/>
              </a:ext>
            </a:extLst>
          </p:cNvPr>
          <p:cNvSpPr/>
          <p:nvPr/>
        </p:nvSpPr>
        <p:spPr>
          <a:xfrm>
            <a:off x="50292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CB9A0A-9A20-47F8-8963-59FB396C7B3E}"/>
              </a:ext>
            </a:extLst>
          </p:cNvPr>
          <p:cNvSpPr/>
          <p:nvPr/>
        </p:nvSpPr>
        <p:spPr>
          <a:xfrm>
            <a:off x="502920" y="246888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strings, checksec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binary type &amp; protections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C51013A-6383-2B56-4D53-5BAA2A36AC70}"/>
              </a:ext>
            </a:extLst>
          </p:cNvPr>
          <p:cNvSpPr/>
          <p:nvPr/>
        </p:nvSpPr>
        <p:spPr>
          <a:xfrm>
            <a:off x="1984248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A18E35E-F569-DEB9-448E-62A066920166}"/>
              </a:ext>
            </a:extLst>
          </p:cNvPr>
          <p:cNvSpPr/>
          <p:nvPr/>
        </p:nvSpPr>
        <p:spPr>
          <a:xfrm>
            <a:off x="2103120" y="1234440"/>
            <a:ext cx="15544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712AF48-A1D4-CD4A-30F2-7AD097B54B22}"/>
              </a:ext>
            </a:extLst>
          </p:cNvPr>
          <p:cNvSpPr/>
          <p:nvPr/>
        </p:nvSpPr>
        <p:spPr>
          <a:xfrm>
            <a:off x="2606040" y="13258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8DA6E25-AE21-F029-FA02-254BFF373B91}"/>
              </a:ext>
            </a:extLst>
          </p:cNvPr>
          <p:cNvSpPr/>
          <p:nvPr/>
        </p:nvSpPr>
        <p:spPr>
          <a:xfrm>
            <a:off x="260604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63F2A08-9970-38D1-337F-4F63087E11C0}"/>
              </a:ext>
            </a:extLst>
          </p:cNvPr>
          <p:cNvSpPr/>
          <p:nvPr/>
        </p:nvSpPr>
        <p:spPr>
          <a:xfrm>
            <a:off x="219456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632238-4E4A-286B-0667-FFD855285DE9}"/>
              </a:ext>
            </a:extLst>
          </p:cNvPr>
          <p:cNvSpPr/>
          <p:nvPr/>
        </p:nvSpPr>
        <p:spPr>
          <a:xfrm>
            <a:off x="2194560" y="246888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Ghidra / IDA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decompiled code, find vuln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DDA6866-06B1-3520-ACD4-1DDC55EE8DE2}"/>
              </a:ext>
            </a:extLst>
          </p:cNvPr>
          <p:cNvSpPr/>
          <p:nvPr/>
        </p:nvSpPr>
        <p:spPr>
          <a:xfrm>
            <a:off x="3675888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46C8D2B-A893-A176-3928-BCD62C56D66C}"/>
              </a:ext>
            </a:extLst>
          </p:cNvPr>
          <p:cNvSpPr/>
          <p:nvPr/>
        </p:nvSpPr>
        <p:spPr>
          <a:xfrm>
            <a:off x="3794760" y="1234440"/>
            <a:ext cx="15544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0CF123-2F3C-76A3-76E6-CF229ADAFA15}"/>
              </a:ext>
            </a:extLst>
          </p:cNvPr>
          <p:cNvSpPr/>
          <p:nvPr/>
        </p:nvSpPr>
        <p:spPr>
          <a:xfrm>
            <a:off x="4297680" y="13258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32DC6BC-FB29-62FA-F9F0-253065F80FCF}"/>
              </a:ext>
            </a:extLst>
          </p:cNvPr>
          <p:cNvSpPr/>
          <p:nvPr/>
        </p:nvSpPr>
        <p:spPr>
          <a:xfrm>
            <a:off x="429768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0DECE6B-42CF-E445-AF79-44CE8B519696}"/>
              </a:ext>
            </a:extLst>
          </p:cNvPr>
          <p:cNvSpPr/>
          <p:nvPr/>
        </p:nvSpPr>
        <p:spPr>
          <a:xfrm>
            <a:off x="388620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Dynamic Analysis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9C3CD93-BF52-72CA-21D7-E8FCD68CC2E5}"/>
              </a:ext>
            </a:extLst>
          </p:cNvPr>
          <p:cNvSpPr/>
          <p:nvPr/>
        </p:nvSpPr>
        <p:spPr>
          <a:xfrm>
            <a:off x="3886200" y="246888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+ pwndbg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observe behavior, set breakpoints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B8E4981-A0F3-A60E-774B-AB9588DB845A}"/>
              </a:ext>
            </a:extLst>
          </p:cNvPr>
          <p:cNvSpPr/>
          <p:nvPr/>
        </p:nvSpPr>
        <p:spPr>
          <a:xfrm>
            <a:off x="5367528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834D4B4-7ACA-1D8B-25E1-68A581505E21}"/>
              </a:ext>
            </a:extLst>
          </p:cNvPr>
          <p:cNvSpPr/>
          <p:nvPr/>
        </p:nvSpPr>
        <p:spPr>
          <a:xfrm>
            <a:off x="5486400" y="1234440"/>
            <a:ext cx="15544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0AD8191-074C-1FD7-D6A3-7856CF94D8B3}"/>
              </a:ext>
            </a:extLst>
          </p:cNvPr>
          <p:cNvSpPr/>
          <p:nvPr/>
        </p:nvSpPr>
        <p:spPr>
          <a:xfrm>
            <a:off x="5989320" y="1325880"/>
            <a:ext cx="566928" cy="5669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46E9B54-29E9-F8F6-EB81-D2F0C7AFEA99}"/>
              </a:ext>
            </a:extLst>
          </p:cNvPr>
          <p:cNvSpPr/>
          <p:nvPr/>
        </p:nvSpPr>
        <p:spPr>
          <a:xfrm>
            <a:off x="5989320" y="1325880"/>
            <a:ext cx="566928" cy="5669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C1E3CAF-05D3-F5DE-B207-A071AD5D0BAA}"/>
              </a:ext>
            </a:extLst>
          </p:cNvPr>
          <p:cNvSpPr/>
          <p:nvPr/>
        </p:nvSpPr>
        <p:spPr>
          <a:xfrm>
            <a:off x="557784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Exploit Dev</a:t>
            </a:r>
            <a:endParaRPr lang="en-US" sz="1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9D0ADAA-466B-C1F0-B7B5-711E3642BFA6}"/>
              </a:ext>
            </a:extLst>
          </p:cNvPr>
          <p:cNvSpPr/>
          <p:nvPr/>
        </p:nvSpPr>
        <p:spPr>
          <a:xfrm>
            <a:off x="5577840" y="246888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pwntools script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payload, handle offsets &amp; addresses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55A2D1B-8A73-12BA-44FF-EFC14A28562D}"/>
              </a:ext>
            </a:extLst>
          </p:cNvPr>
          <p:cNvSpPr/>
          <p:nvPr/>
        </p:nvSpPr>
        <p:spPr>
          <a:xfrm>
            <a:off x="7059168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61170B4-6E9A-2351-0752-49C1DBE51F36}"/>
              </a:ext>
            </a:extLst>
          </p:cNvPr>
          <p:cNvSpPr/>
          <p:nvPr/>
        </p:nvSpPr>
        <p:spPr>
          <a:xfrm>
            <a:off x="7178040" y="1234440"/>
            <a:ext cx="15544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EA86906-0AB3-F3A9-25A2-A72E4ECF90F7}"/>
              </a:ext>
            </a:extLst>
          </p:cNvPr>
          <p:cNvSpPr/>
          <p:nvPr/>
        </p:nvSpPr>
        <p:spPr>
          <a:xfrm>
            <a:off x="7680960" y="13258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7FCEB00-B0A7-A528-BB37-BA963DF07497}"/>
              </a:ext>
            </a:extLst>
          </p:cNvPr>
          <p:cNvSpPr/>
          <p:nvPr/>
        </p:nvSpPr>
        <p:spPr>
          <a:xfrm>
            <a:off x="768096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34F3D3C-44E2-3B2F-3D75-AD2434B1B716}"/>
              </a:ext>
            </a:extLst>
          </p:cNvPr>
          <p:cNvSpPr/>
          <p:nvPr/>
        </p:nvSpPr>
        <p:spPr>
          <a:xfrm>
            <a:off x="726948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Capture Flag</a:t>
            </a:r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359649F-4DD6-9CC5-B289-42243F33E989}"/>
              </a:ext>
            </a:extLst>
          </p:cNvPr>
          <p:cNvSpPr/>
          <p:nvPr/>
        </p:nvSpPr>
        <p:spPr>
          <a:xfrm>
            <a:off x="7269480" y="246888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locally → remote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flag{...} for points!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409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Writeup — picoCTF: vault-door-1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picoCTF   |   Category: Reverse Engineering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file + strings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60934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binary type. Run strings to spot readable text — noticed Java source-like code embedded.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Open in Ghidra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43230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Decompile main check function. Found character-by-character comparison against hardcoded array.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Extract array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2552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ASCII values from the comparison array. Decoded to: d35cr4mbl3_tH3_cH4r4cT3r5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" y="4078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Submit flag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407822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flag{d35cr4mbl3_tH3_cH4r4cT3r5} → Correct! 100 points earned.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writeup documented in writeups/vault-door-1.md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 Writeup — pwnable.tw: start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pwnable.tw   |   Category: Pwn | Vuln: Stack Overflow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checksec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60934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canary, no PIE, no NX. Old-school 32-bit ELF. All protections off = shellcode opportunity.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Find overflow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43230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GDB: cyclic 100, run, check EIP. Offset = 20 bytes to overwrite return address.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Leak stack addr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2552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prints stack pointer via write(). Catch it in pwntools: io.recv() → base = int.from_bytes(...)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" y="4078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Inject shellcode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407822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padding + shellcode_addr + asm(shellcraft.sh()). Get shell, cat flag.txt.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writeup documented in writeups/pwnable-start.md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B4F78-0B5B-D30B-EC2B-5C6E7A116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9D73D8C-F7DB-6D7C-B448-C2BD787C33D7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34221A-5580-FEF8-9130-0699693AA77A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 your CTF journey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F7EB01-3D31-65B3-97A5-4C8297CE61A2}"/>
              </a:ext>
            </a:extLst>
          </p:cNvPr>
          <p:cNvSpPr/>
          <p:nvPr/>
        </p:nvSpPr>
        <p:spPr>
          <a:xfrm>
            <a:off x="411480" y="1097280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2029D6-CAA0-E05E-7B88-81FB0807D7C8}"/>
              </a:ext>
            </a:extLst>
          </p:cNvPr>
          <p:cNvSpPr/>
          <p:nvPr/>
        </p:nvSpPr>
        <p:spPr>
          <a:xfrm>
            <a:off x="612648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picoCTF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C6E916-732C-DF9E-C280-4FD024015C23}"/>
              </a:ext>
            </a:extLst>
          </p:cNvPr>
          <p:cNvSpPr/>
          <p:nvPr/>
        </p:nvSpPr>
        <p:spPr>
          <a:xfrm>
            <a:off x="612648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picoctf.org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B4EBCA5-E3DB-FBB0-260F-3371A7F110F0}"/>
              </a:ext>
            </a:extLst>
          </p:cNvPr>
          <p:cNvSpPr/>
          <p:nvPr/>
        </p:nvSpPr>
        <p:spPr>
          <a:xfrm>
            <a:off x="612648" y="1755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beginner CTF — great challenges &amp; learning path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2C630CD-895F-5A5F-732F-EDAAAE166BDE}"/>
              </a:ext>
            </a:extLst>
          </p:cNvPr>
          <p:cNvSpPr/>
          <p:nvPr/>
        </p:nvSpPr>
        <p:spPr>
          <a:xfrm>
            <a:off x="4800600" y="1097280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1AEE743-3E63-02A6-E958-D37D929A0A19}"/>
              </a:ext>
            </a:extLst>
          </p:cNvPr>
          <p:cNvSpPr/>
          <p:nvPr/>
        </p:nvSpPr>
        <p:spPr>
          <a:xfrm>
            <a:off x="5001768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CTFtime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2C9D242-97CA-9ED3-07B1-B95CBF21F2B7}"/>
              </a:ext>
            </a:extLst>
          </p:cNvPr>
          <p:cNvSpPr/>
          <p:nvPr/>
        </p:nvSpPr>
        <p:spPr>
          <a:xfrm>
            <a:off x="5001768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ctftime.org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610BA2A-BF92-3268-4537-3C4913F7494C}"/>
              </a:ext>
            </a:extLst>
          </p:cNvPr>
          <p:cNvSpPr/>
          <p:nvPr/>
        </p:nvSpPr>
        <p:spPr>
          <a:xfrm>
            <a:off x="5001768" y="1755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of all upcoming CTF events worldwide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80BB85D-C6EE-D582-833A-5933121C4499}"/>
              </a:ext>
            </a:extLst>
          </p:cNvPr>
          <p:cNvSpPr/>
          <p:nvPr/>
        </p:nvSpPr>
        <p:spPr>
          <a:xfrm>
            <a:off x="411480" y="2395728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443B69A-8587-CE4E-F19D-358EAAF8214F}"/>
              </a:ext>
            </a:extLst>
          </p:cNvPr>
          <p:cNvSpPr/>
          <p:nvPr/>
        </p:nvSpPr>
        <p:spPr>
          <a:xfrm>
            <a:off x="612648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9717E61-6853-F372-FA10-6152B36F30B3}"/>
              </a:ext>
            </a:extLst>
          </p:cNvPr>
          <p:cNvSpPr/>
          <p:nvPr/>
        </p:nvSpPr>
        <p:spPr>
          <a:xfrm>
            <a:off x="612648" y="2807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tryhackme.com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09C26E6-8BB1-1703-1269-F9BF08368950}"/>
              </a:ext>
            </a:extLst>
          </p:cNvPr>
          <p:cNvSpPr/>
          <p:nvPr/>
        </p:nvSpPr>
        <p:spPr>
          <a:xfrm>
            <a:off x="612648" y="30540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learning rooms — web, RE, forensics &amp; more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4BB5A54-22C7-2860-E199-02205B7449BB}"/>
              </a:ext>
            </a:extLst>
          </p:cNvPr>
          <p:cNvSpPr/>
          <p:nvPr/>
        </p:nvSpPr>
        <p:spPr>
          <a:xfrm>
            <a:off x="4800600" y="2395728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51FEA5E-912C-4219-6A4B-7DD45667912D}"/>
              </a:ext>
            </a:extLst>
          </p:cNvPr>
          <p:cNvSpPr/>
          <p:nvPr/>
        </p:nvSpPr>
        <p:spPr>
          <a:xfrm>
            <a:off x="5001768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HackTheBox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C99CA34-435A-0F69-7292-5BF1A9E57AE4}"/>
              </a:ext>
            </a:extLst>
          </p:cNvPr>
          <p:cNvSpPr/>
          <p:nvPr/>
        </p:nvSpPr>
        <p:spPr>
          <a:xfrm>
            <a:off x="5001768" y="2807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hackthebox.eu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FFF15D3-FE34-F0F0-3C5D-4015F6AEBA0C}"/>
              </a:ext>
            </a:extLst>
          </p:cNvPr>
          <p:cNvSpPr/>
          <p:nvPr/>
        </p:nvSpPr>
        <p:spPr>
          <a:xfrm>
            <a:off x="5001768" y="30540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Intermediate+: real machines to root, active community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7684C83-E822-6F0A-F1C4-A3CC8280FFA1}"/>
              </a:ext>
            </a:extLst>
          </p:cNvPr>
          <p:cNvSpPr/>
          <p:nvPr/>
        </p:nvSpPr>
        <p:spPr>
          <a:xfrm>
            <a:off x="411480" y="3694176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63B57DA-8F56-09C5-F39D-C877EC26F4FB}"/>
              </a:ext>
            </a:extLst>
          </p:cNvPr>
          <p:cNvSpPr/>
          <p:nvPr/>
        </p:nvSpPr>
        <p:spPr>
          <a:xfrm>
            <a:off x="612648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ir0nstone's Notes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8D05897-B6C2-5F94-6E04-23BE368F02A5}"/>
              </a:ext>
            </a:extLst>
          </p:cNvPr>
          <p:cNvSpPr/>
          <p:nvPr/>
        </p:nvSpPr>
        <p:spPr>
          <a:xfrm>
            <a:off x="612648" y="41056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ir0nstone.gitbook.io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74AB41A-FA44-0C5B-FAB1-020D7CF0DB5A}"/>
              </a:ext>
            </a:extLst>
          </p:cNvPr>
          <p:cNvSpPr/>
          <p:nvPr/>
        </p:nvSpPr>
        <p:spPr>
          <a:xfrm>
            <a:off x="612648" y="43525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free resource for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binary exploitation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620784F-A962-177F-0816-A810CD5172D7}"/>
              </a:ext>
            </a:extLst>
          </p:cNvPr>
          <p:cNvSpPr/>
          <p:nvPr/>
        </p:nvSpPr>
        <p:spPr>
          <a:xfrm>
            <a:off x="4800600" y="3694176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7118F08-616A-D1C8-A29E-2EBADDA56E54}"/>
              </a:ext>
            </a:extLst>
          </p:cNvPr>
          <p:cNvSpPr/>
          <p:nvPr/>
        </p:nvSpPr>
        <p:spPr>
          <a:xfrm>
            <a:off x="5001768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Field Guide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9C6F031-1114-2EB1-453E-04DAC43E5B45}"/>
              </a:ext>
            </a:extLst>
          </p:cNvPr>
          <p:cNvSpPr/>
          <p:nvPr/>
        </p:nvSpPr>
        <p:spPr>
          <a:xfrm>
            <a:off x="5001768" y="41056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trailofbits.github.io/ctf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0FADBE7-E2F8-5D37-5095-8C1E1F667FF1}"/>
              </a:ext>
            </a:extLst>
          </p:cNvPr>
          <p:cNvSpPr/>
          <p:nvPr/>
        </p:nvSpPr>
        <p:spPr>
          <a:xfrm>
            <a:off x="5001768" y="43525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of Bits' comprehensive CTF reference guide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364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1D858-E832-5D28-FFD1-2704945D6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58B4EFA-A0A3-CAD3-2112-D546E48F36B2}"/>
              </a:ext>
            </a:extLst>
          </p:cNvPr>
          <p:cNvSpPr/>
          <p:nvPr/>
        </p:nvSpPr>
        <p:spPr>
          <a:xfrm>
            <a:off x="457199" y="138303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7D678C-2D30-6CB4-9E8C-04AC4FBDB22C}"/>
              </a:ext>
            </a:extLst>
          </p:cNvPr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KOSS IIT Kharagpur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4672CF-9E12-8A44-D46C-53E2462388EF}"/>
              </a:ext>
            </a:extLst>
          </p:cNvPr>
          <p:cNvSpPr txBox="1"/>
          <p:nvPr/>
        </p:nvSpPr>
        <p:spPr>
          <a:xfrm>
            <a:off x="3792907" y="2996356"/>
            <a:ext cx="15581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Submitted by </a:t>
            </a:r>
          </a:p>
          <a:p>
            <a:pPr algn="ctr"/>
            <a:r>
              <a:rPr lang="en-US" dirty="0"/>
              <a:t>Aditya Rajbhar</a:t>
            </a:r>
          </a:p>
          <a:p>
            <a:pPr algn="ctr"/>
            <a:r>
              <a:rPr lang="en-US" sz="1200" dirty="0"/>
              <a:t>25CE10027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554510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1386</Words>
  <Application>Microsoft Office PowerPoint</Application>
  <PresentationFormat>On-screen Show (16:9)</PresentationFormat>
  <Paragraphs>247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Capture the Flag (CTF) Competitions</dc:title>
  <dc:subject>PptxGenJS Presentation</dc:subject>
  <dc:creator>KOSS</dc:creator>
  <cp:lastModifiedBy>Aditya Rajbhar</cp:lastModifiedBy>
  <cp:revision>4</cp:revision>
  <dcterms:created xsi:type="dcterms:W3CDTF">2026-04-06T14:25:21Z</dcterms:created>
  <dcterms:modified xsi:type="dcterms:W3CDTF">2026-04-07T18:11:23Z</dcterms:modified>
</cp:coreProperties>
</file>